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69" r:id="rId5"/>
    <p:sldId id="259" r:id="rId6"/>
    <p:sldId id="270" r:id="rId7"/>
    <p:sldId id="271" r:id="rId8"/>
    <p:sldId id="275" r:id="rId9"/>
    <p:sldId id="272" r:id="rId10"/>
    <p:sldId id="273" r:id="rId11"/>
    <p:sldId id="274" r:id="rId12"/>
    <p:sldId id="262" r:id="rId13"/>
    <p:sldId id="263" r:id="rId14"/>
    <p:sldId id="276" r:id="rId15"/>
    <p:sldId id="264" r:id="rId16"/>
    <p:sldId id="265" r:id="rId17"/>
    <p:sldId id="277" r:id="rId18"/>
    <p:sldId id="266" r:id="rId19"/>
    <p:sldId id="268" r:id="rId20"/>
  </p:sldIdLst>
  <p:sldSz cx="9144000" cy="5143500" type="screen16x9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37"/>
    <p:restoredTop sz="94691"/>
  </p:normalViewPr>
  <p:slideViewPr>
    <p:cSldViewPr snapToGrid="0">
      <p:cViewPr varScale="1">
        <p:scale>
          <a:sx n="119" d="100"/>
          <a:sy n="119" d="100"/>
        </p:scale>
        <p:origin x="33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b"/>
          <a:lstStyle/>
          <a:p>
            <a:pPr algn="ctr">
              <a:lnSpc>
                <a:spcPct val="100000"/>
              </a:lnSpc>
            </a:pPr>
            <a:r>
              <a:rPr lang="en-US" sz="5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Assignment 3 (NLP) Writeup</a:t>
            </a:r>
            <a:br>
              <a:rPr dirty="0"/>
            </a:br>
            <a:r>
              <a:rPr lang="en-US" sz="2400" b="1" strike="noStrike" spc="-1" dirty="0">
                <a:solidFill>
                  <a:srgbClr val="FF0000"/>
                </a:solidFill>
                <a:latin typeface="Arial"/>
                <a:ea typeface="Arial"/>
              </a:rPr>
              <a:t>DO NOT TAG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490" b="0" strike="noStrike" spc="-1">
                <a:solidFill>
                  <a:srgbClr val="595959"/>
                </a:solidFill>
                <a:latin typeface="Arial"/>
                <a:ea typeface="Arial"/>
              </a:rPr>
              <a:t>Name:</a:t>
            </a:r>
            <a:endParaRPr lang="en-US" sz="149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90" b="0" strike="noStrike" spc="-1">
                <a:solidFill>
                  <a:srgbClr val="595959"/>
                </a:solidFill>
                <a:latin typeface="Arial"/>
                <a:ea typeface="Arial"/>
              </a:rPr>
              <a:t>GT Email:</a:t>
            </a:r>
            <a:endParaRPr lang="en-US" sz="149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05D9B4-1C28-C8EC-3767-05D81AD0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94"/>
            <a:ext cx="8229240" cy="858600"/>
          </a:xfrm>
        </p:spPr>
        <p:txBody>
          <a:bodyPr/>
          <a:lstStyle/>
          <a:p>
            <a:r>
              <a:rPr lang="en-US" sz="2000" b="1" dirty="0">
                <a:solidFill>
                  <a:schemeClr val="accent1"/>
                </a:solidFill>
              </a:rPr>
              <a:t>Seq2Seq Results – Default configuration</a:t>
            </a:r>
            <a:br>
              <a:rPr lang="en-US" sz="2000" b="1" dirty="0">
                <a:solidFill>
                  <a:schemeClr val="accent1"/>
                </a:solidFill>
              </a:rPr>
            </a:br>
            <a:r>
              <a:rPr lang="en-US" sz="1600" b="1" dirty="0">
                <a:solidFill>
                  <a:schemeClr val="accent1"/>
                </a:solidFill>
              </a:rPr>
              <a:t>Values are for last epoch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4B7954-87E1-6A90-16B0-29B0E69814A7}"/>
              </a:ext>
            </a:extLst>
          </p:cNvPr>
          <p:cNvGrpSpPr/>
          <p:nvPr/>
        </p:nvGrpSpPr>
        <p:grpSpPr>
          <a:xfrm>
            <a:off x="380144" y="954088"/>
            <a:ext cx="7575480" cy="1606850"/>
            <a:chOff x="390418" y="1036280"/>
            <a:chExt cx="7575480" cy="160685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B16EA21-ECC7-AD1D-1372-1EA74BE4407C}"/>
                </a:ext>
              </a:extLst>
            </p:cNvPr>
            <p:cNvSpPr txBox="1"/>
            <p:nvPr/>
          </p:nvSpPr>
          <p:spPr>
            <a:xfrm>
              <a:off x="390418" y="1036280"/>
              <a:ext cx="3342002" cy="1606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dirty="0">
                  <a:solidFill>
                    <a:srgbClr val="0070C0"/>
                  </a:solidFill>
                </a:rPr>
                <a:t>RNN</a:t>
              </a:r>
            </a:p>
            <a:p>
              <a:pPr>
                <a:lnSpc>
                  <a:spcPts val="2400"/>
                </a:lnSpc>
              </a:pPr>
              <a:r>
                <a:rPr lang="en-US" dirty="0"/>
                <a:t>Training Loss: </a:t>
              </a:r>
              <a:r>
                <a:rPr lang="en-US" altLang="zh-CN" dirty="0"/>
                <a:t>4.61</a:t>
              </a:r>
            </a:p>
            <a:p>
              <a:pPr>
                <a:lnSpc>
                  <a:spcPts val="2400"/>
                </a:lnSpc>
              </a:pPr>
              <a:r>
                <a:rPr lang="en-US" dirty="0"/>
                <a:t>Training Perplexity:</a:t>
              </a:r>
              <a:r>
                <a:rPr lang="zh-CN" altLang="en-US" dirty="0"/>
                <a:t> </a:t>
              </a:r>
              <a:r>
                <a:rPr lang="en-US" altLang="zh-CN" dirty="0"/>
                <a:t>100.72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Loss: 4.</a:t>
              </a:r>
              <a:r>
                <a:rPr lang="en-US" altLang="zh-CN" dirty="0"/>
                <a:t>70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Perplexity: </a:t>
              </a:r>
              <a:r>
                <a:rPr lang="en-US" altLang="zh-CN" dirty="0"/>
                <a:t>109.83</a:t>
              </a:r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A90808-3F9E-F1B8-DF30-64CA2527E02A}"/>
                </a:ext>
              </a:extLst>
            </p:cNvPr>
            <p:cNvSpPr txBox="1"/>
            <p:nvPr/>
          </p:nvSpPr>
          <p:spPr>
            <a:xfrm>
              <a:off x="4893925" y="1036280"/>
              <a:ext cx="3071973" cy="1606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dirty="0">
                  <a:solidFill>
                    <a:srgbClr val="0070C0"/>
                  </a:solidFill>
                </a:rPr>
                <a:t>LSTM</a:t>
              </a:r>
            </a:p>
            <a:p>
              <a:pPr>
                <a:lnSpc>
                  <a:spcPts val="2400"/>
                </a:lnSpc>
              </a:pPr>
              <a:r>
                <a:rPr lang="en-US" dirty="0"/>
                <a:t>Training Loss: </a:t>
              </a:r>
              <a:r>
                <a:rPr lang="en-US" altLang="zh-CN" dirty="0"/>
                <a:t>3.15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Training Perplexity: </a:t>
              </a:r>
              <a:r>
                <a:rPr lang="en-US" altLang="zh-CN" dirty="0"/>
                <a:t>23.28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Loss: </a:t>
              </a:r>
              <a:r>
                <a:rPr lang="en-US" altLang="zh-CN" dirty="0"/>
                <a:t>3.32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Perplexity: </a:t>
              </a:r>
              <a:r>
                <a:rPr lang="en-US" altLang="zh-CN" dirty="0"/>
                <a:t>27.59</a:t>
              </a:r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8901A60-6BB8-FCD0-9BC0-3C06F1F25AF2}"/>
              </a:ext>
            </a:extLst>
          </p:cNvPr>
          <p:cNvGrpSpPr/>
          <p:nvPr/>
        </p:nvGrpSpPr>
        <p:grpSpPr>
          <a:xfrm>
            <a:off x="380144" y="3058578"/>
            <a:ext cx="7575480" cy="1606850"/>
            <a:chOff x="390418" y="1036280"/>
            <a:chExt cx="7575480" cy="16068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7CB046-71F5-913E-41B5-5620BAC94D6F}"/>
                </a:ext>
              </a:extLst>
            </p:cNvPr>
            <p:cNvSpPr txBox="1"/>
            <p:nvPr/>
          </p:nvSpPr>
          <p:spPr>
            <a:xfrm>
              <a:off x="390418" y="1036280"/>
              <a:ext cx="3148364" cy="1606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dirty="0">
                  <a:solidFill>
                    <a:srgbClr val="0070C0"/>
                  </a:solidFill>
                </a:rPr>
                <a:t>RNN-with-Attention</a:t>
              </a:r>
            </a:p>
            <a:p>
              <a:pPr>
                <a:lnSpc>
                  <a:spcPts val="2400"/>
                </a:lnSpc>
              </a:pPr>
              <a:r>
                <a:rPr lang="en-US" dirty="0"/>
                <a:t>Training Loss: </a:t>
              </a:r>
              <a:r>
                <a:rPr lang="en-US" altLang="zh-CN" dirty="0"/>
                <a:t>1.49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Training Perplexity: </a:t>
              </a:r>
              <a:r>
                <a:rPr lang="en-US" altLang="zh-CN" dirty="0"/>
                <a:t>4.46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Loss: </a:t>
              </a:r>
              <a:r>
                <a:rPr lang="en-US" altLang="zh-CN" dirty="0"/>
                <a:t>1.85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Perplexity: </a:t>
              </a:r>
              <a:r>
                <a:rPr lang="en-US" altLang="zh-CN" dirty="0"/>
                <a:t>6.37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B619F4-A0A0-5892-017E-AA711304B03A}"/>
                </a:ext>
              </a:extLst>
            </p:cNvPr>
            <p:cNvSpPr txBox="1"/>
            <p:nvPr/>
          </p:nvSpPr>
          <p:spPr>
            <a:xfrm>
              <a:off x="4893925" y="1036280"/>
              <a:ext cx="3071973" cy="1606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dirty="0">
                  <a:solidFill>
                    <a:srgbClr val="0070C0"/>
                  </a:solidFill>
                </a:rPr>
                <a:t>LSTM-with-Attention</a:t>
              </a:r>
            </a:p>
            <a:p>
              <a:pPr>
                <a:lnSpc>
                  <a:spcPts val="2400"/>
                </a:lnSpc>
              </a:pPr>
              <a:r>
                <a:rPr lang="en-US" dirty="0"/>
                <a:t>Training Loss: </a:t>
              </a:r>
              <a:r>
                <a:rPr lang="en-US" altLang="zh-CN" dirty="0"/>
                <a:t>3.66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Training Perplexity: </a:t>
              </a:r>
              <a:r>
                <a:rPr lang="en-US" altLang="zh-CN" dirty="0"/>
                <a:t>38.99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Loss: </a:t>
              </a:r>
              <a:r>
                <a:rPr lang="en-US" altLang="zh-CN" dirty="0"/>
                <a:t>3.65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Perplexity: </a:t>
              </a:r>
              <a:r>
                <a:rPr lang="en-US" altLang="zh-CN" dirty="0"/>
                <a:t>38.70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91236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12120" y="18138"/>
            <a:ext cx="8517960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Seq2Seq Explanation (RNN vs LSTM) </a:t>
            </a:r>
            <a:endParaRPr lang="en-US" sz="2000" b="1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344160" y="482204"/>
            <a:ext cx="7277400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Compare your RNN result to your LSTM result and explain why they differ.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21BD931A-AEA2-91DB-5045-E6409E13BEC8}"/>
              </a:ext>
            </a:extLst>
          </p:cNvPr>
          <p:cNvSpPr/>
          <p:nvPr/>
        </p:nvSpPr>
        <p:spPr>
          <a:xfrm>
            <a:off x="344160" y="1052444"/>
            <a:ext cx="7277400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altLang="zh-CN" sz="1200" b="1" strike="noStrike" spc="-1" dirty="0">
                <a:latin typeface="Arial"/>
                <a:ea typeface="Arial"/>
              </a:rPr>
              <a:t>Comparison</a:t>
            </a:r>
            <a:r>
              <a:rPr lang="zh-CN" altLang="en-US" sz="1200" b="1" strike="noStrike" spc="-1" dirty="0">
                <a:latin typeface="Arial"/>
                <a:ea typeface="Arial"/>
              </a:rPr>
              <a:t> </a:t>
            </a:r>
            <a:r>
              <a:rPr lang="en-US" altLang="zh-CN" sz="1200" b="1" strike="noStrike" spc="-1" dirty="0">
                <a:latin typeface="Arial"/>
                <a:ea typeface="Arial"/>
              </a:rPr>
              <a:t>Item</a:t>
            </a:r>
            <a:r>
              <a:rPr lang="zh-CN" altLang="en-US" sz="1200" b="1" strike="noStrike" spc="-1" dirty="0">
                <a:latin typeface="Arial"/>
                <a:ea typeface="Arial"/>
              </a:rPr>
              <a:t> </a:t>
            </a:r>
            <a:r>
              <a:rPr lang="en-US" altLang="zh-CN" sz="1200" b="1" strike="noStrike" spc="-1" dirty="0">
                <a:latin typeface="Arial"/>
                <a:ea typeface="Arial"/>
              </a:rPr>
              <a:t>w/</a:t>
            </a:r>
            <a:r>
              <a:rPr lang="zh-CN" altLang="en-US" sz="1200" b="1" strike="noStrike" spc="-1" dirty="0">
                <a:latin typeface="Arial"/>
                <a:ea typeface="Arial"/>
              </a:rPr>
              <a:t> </a:t>
            </a:r>
            <a:r>
              <a:rPr lang="en-US" altLang="zh-CN" sz="1200" b="1" strike="noStrike" spc="-1" dirty="0">
                <a:latin typeface="Arial"/>
                <a:ea typeface="Arial"/>
              </a:rPr>
              <a:t>results</a:t>
            </a:r>
            <a:r>
              <a:rPr lang="en-US" altLang="zh-CN" sz="1200" b="0" strike="noStrike" spc="-1" dirty="0">
                <a:latin typeface="Arial"/>
                <a:ea typeface="Arial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altLang="zh-CN" sz="1200" spc="-1" dirty="0">
                <a:latin typeface="Arial"/>
              </a:rPr>
              <a:t>RNN: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sz="1200" dirty="0"/>
              <a:t>Training Perplexity ≈ 100, Validation Perplexity ≈ </a:t>
            </a:r>
            <a:r>
              <a:rPr lang="en-US" altLang="zh-CN" sz="1200" dirty="0"/>
              <a:t>110</a:t>
            </a:r>
            <a:endParaRPr lang="en-US" altLang="zh-CN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altLang="zh-CN" sz="1200" spc="-1" dirty="0">
                <a:latin typeface="Arial"/>
              </a:rPr>
              <a:t>LSTM: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sz="1200" dirty="0"/>
              <a:t>Training Perplexity ≈ </a:t>
            </a:r>
            <a:r>
              <a:rPr lang="en-US" altLang="zh-CN" sz="1200" dirty="0"/>
              <a:t>4.46</a:t>
            </a:r>
            <a:r>
              <a:rPr lang="en-US" sz="1200" dirty="0"/>
              <a:t>, Validation Perplexity ≈ 27.6</a:t>
            </a: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6847C048-F2CF-FE68-4C5A-FA5AE7B1F4D0}"/>
              </a:ext>
            </a:extLst>
          </p:cNvPr>
          <p:cNvSpPr/>
          <p:nvPr/>
        </p:nvSpPr>
        <p:spPr>
          <a:xfrm>
            <a:off x="344160" y="1816570"/>
            <a:ext cx="7277400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altLang="zh-CN" sz="1200" b="1" strike="noStrike" spc="-1" dirty="0">
                <a:latin typeface="Arial"/>
                <a:ea typeface="Arial"/>
              </a:rPr>
              <a:t>Observations: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altLang="zh-CN" sz="1200" dirty="0"/>
              <a:t>I</a:t>
            </a:r>
            <a:r>
              <a:rPr lang="zh-CN" altLang="en-US" sz="1200" dirty="0"/>
              <a:t> </a:t>
            </a:r>
            <a:r>
              <a:rPr lang="en-US" altLang="zh-CN" sz="1200" dirty="0" err="1"/>
              <a:t>summerized</a:t>
            </a:r>
            <a:r>
              <a:rPr lang="zh-CN" altLang="en-US" sz="1200" dirty="0"/>
              <a:t> </a:t>
            </a:r>
            <a:r>
              <a:rPr lang="en-US" altLang="zh-CN" sz="1200" dirty="0"/>
              <a:t>the</a:t>
            </a:r>
            <a:r>
              <a:rPr lang="zh-CN" altLang="en-US" sz="1200" dirty="0"/>
              <a:t> </a:t>
            </a:r>
            <a:r>
              <a:rPr lang="en-US" altLang="zh-CN" sz="1200" dirty="0"/>
              <a:t>differences</a:t>
            </a:r>
            <a:r>
              <a:rPr lang="zh-CN" altLang="en-US" sz="1200" dirty="0"/>
              <a:t> </a:t>
            </a:r>
            <a:r>
              <a:rPr lang="en-US" altLang="zh-CN" sz="1200" dirty="0"/>
              <a:t>in</a:t>
            </a:r>
            <a:r>
              <a:rPr lang="zh-CN" altLang="en-US" sz="1200" dirty="0"/>
              <a:t> </a:t>
            </a:r>
            <a:r>
              <a:rPr lang="en-US" altLang="zh-CN" sz="1200" dirty="0"/>
              <a:t>four</a:t>
            </a:r>
            <a:r>
              <a:rPr lang="zh-CN" altLang="en-US" sz="1200" dirty="0"/>
              <a:t> </a:t>
            </a:r>
            <a:r>
              <a:rPr lang="en-US" altLang="zh-CN" sz="1200" dirty="0"/>
              <a:t>metrics:</a:t>
            </a:r>
            <a:r>
              <a:rPr lang="zh-CN" altLang="en-US" sz="1200" dirty="0"/>
              <a:t> </a:t>
            </a:r>
            <a:endParaRPr lang="en-US" altLang="zh-CN" sz="1200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200" strike="noStrike" spc="-1" dirty="0">
                <a:latin typeface="Arial"/>
                <a:ea typeface="Arial"/>
              </a:rPr>
              <a:t>Training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loss:</a:t>
            </a:r>
            <a:r>
              <a:rPr lang="en-US" sz="1200" dirty="0"/>
              <a:t> LSTM learns faster and fits data better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200" strike="noStrike" spc="-1" dirty="0">
                <a:latin typeface="Arial"/>
                <a:ea typeface="Arial"/>
              </a:rPr>
              <a:t>Training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Perplexity: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LSTM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outperforms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RNN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in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prediction</a:t>
            </a:r>
            <a:r>
              <a:rPr lang="en-US" altLang="zh-CN" sz="1200" spc="-1" dirty="0">
                <a:latin typeface="Arial"/>
                <a:ea typeface="Arial"/>
              </a:rPr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200" strike="noStrike" spc="-1" dirty="0">
                <a:latin typeface="Arial"/>
                <a:ea typeface="Arial"/>
              </a:rPr>
              <a:t>Validation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pc="-1" dirty="0">
                <a:latin typeface="Arial"/>
                <a:ea typeface="Arial"/>
              </a:rPr>
              <a:t>Loss:</a:t>
            </a:r>
            <a:r>
              <a:rPr lang="zh-CN" altLang="en-US" sz="1200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LSTM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generalize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better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than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RNN</a:t>
            </a:r>
            <a:endParaRPr lang="en-US" altLang="zh-CN" sz="1200" spc="-1" dirty="0">
              <a:latin typeface="Arial"/>
              <a:ea typeface="Arial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200" strike="noStrike" spc="-1" dirty="0">
                <a:latin typeface="Arial"/>
                <a:ea typeface="Arial"/>
              </a:rPr>
              <a:t>Validation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Perplexity: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LSTM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has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lower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uncertainty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pc="-1" dirty="0">
                <a:latin typeface="Arial"/>
                <a:ea typeface="Arial"/>
              </a:rPr>
              <a:t>on</a:t>
            </a:r>
            <a:r>
              <a:rPr lang="zh-CN" altLang="en-US" sz="1200" spc="-1" dirty="0">
                <a:latin typeface="Arial"/>
                <a:ea typeface="Arial"/>
              </a:rPr>
              <a:t> </a:t>
            </a:r>
            <a:r>
              <a:rPr lang="en-US" altLang="zh-CN" sz="1200" spc="-1" dirty="0">
                <a:latin typeface="Arial"/>
                <a:ea typeface="Arial"/>
              </a:rPr>
              <a:t>unseen</a:t>
            </a:r>
            <a:r>
              <a:rPr lang="zh-CN" altLang="en-US" sz="1200" spc="-1" dirty="0">
                <a:latin typeface="Arial"/>
                <a:ea typeface="Arial"/>
              </a:rPr>
              <a:t> </a:t>
            </a:r>
            <a:r>
              <a:rPr lang="en-US" altLang="zh-CN" sz="1200" spc="-1" dirty="0">
                <a:latin typeface="Arial"/>
                <a:ea typeface="Arial"/>
              </a:rPr>
              <a:t>data</a:t>
            </a:r>
          </a:p>
          <a:p>
            <a:pPr>
              <a:lnSpc>
                <a:spcPct val="100000"/>
              </a:lnSpc>
            </a:pPr>
            <a:endParaRPr lang="en-US" altLang="zh-CN" sz="1200" strike="noStrike" spc="-1" dirty="0">
              <a:latin typeface="Arial"/>
              <a:ea typeface="Arial"/>
            </a:endParaRPr>
          </a:p>
          <a:p>
            <a:pPr>
              <a:lnSpc>
                <a:spcPct val="100000"/>
              </a:lnSpc>
            </a:pPr>
            <a:r>
              <a:rPr lang="en-US" altLang="zh-CN" sz="1200" b="1" strike="noStrike" spc="-1" dirty="0">
                <a:latin typeface="Arial"/>
                <a:ea typeface="Arial"/>
              </a:rPr>
              <a:t>Explanation of difference:</a:t>
            </a:r>
          </a:p>
          <a:p>
            <a:pPr marL="228600" indent="-228600">
              <a:buFontTx/>
              <a:buAutoNum type="arabicPeriod"/>
            </a:pPr>
            <a:r>
              <a:rPr lang="en-US" altLang="zh-CN" sz="1200" spc="-1" dirty="0">
                <a:latin typeface="Arial"/>
              </a:rPr>
              <a:t>RNN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forgets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earlier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token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quickly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due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to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the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b="1" spc="-1" dirty="0">
                <a:latin typeface="Arial"/>
              </a:rPr>
              <a:t>vanishing</a:t>
            </a:r>
            <a:r>
              <a:rPr lang="zh-CN" altLang="en-US" sz="1200" b="1" spc="-1" dirty="0">
                <a:latin typeface="Arial"/>
              </a:rPr>
              <a:t> </a:t>
            </a:r>
            <a:r>
              <a:rPr lang="en-US" altLang="zh-CN" sz="1200" b="1" spc="-1" dirty="0">
                <a:latin typeface="Arial"/>
              </a:rPr>
              <a:t>gradient</a:t>
            </a:r>
            <a:r>
              <a:rPr lang="zh-CN" altLang="en-US" sz="1200" b="1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problem,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while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LSTM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selectively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remembers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over</a:t>
            </a:r>
            <a:r>
              <a:rPr lang="zh-CN" altLang="en-US" sz="1200" b="1" spc="-1" dirty="0">
                <a:latin typeface="Arial"/>
              </a:rPr>
              <a:t> </a:t>
            </a:r>
            <a:r>
              <a:rPr lang="en-US" altLang="zh-CN" sz="1200" b="1" spc="-1" dirty="0">
                <a:latin typeface="Arial"/>
              </a:rPr>
              <a:t>long</a:t>
            </a:r>
            <a:r>
              <a:rPr lang="zh-CN" altLang="en-US" sz="1200" b="1" spc="-1" dirty="0">
                <a:latin typeface="Arial"/>
              </a:rPr>
              <a:t> </a:t>
            </a:r>
            <a:r>
              <a:rPr lang="en-US" altLang="zh-CN" sz="1200" b="1" spc="-1" dirty="0">
                <a:latin typeface="Arial"/>
              </a:rPr>
              <a:t>sequence</a:t>
            </a:r>
            <a:r>
              <a:rPr lang="zh-CN" altLang="en-US" sz="1200" b="1" spc="-1" dirty="0">
                <a:latin typeface="Arial"/>
              </a:rPr>
              <a:t> </a:t>
            </a:r>
            <a:r>
              <a:rPr lang="en-US" altLang="zh-CN" sz="1200" b="1" spc="-1" dirty="0">
                <a:latin typeface="Arial"/>
              </a:rPr>
              <a:t>dependencies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(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it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has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a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b="1" strike="noStrike" spc="-1" dirty="0">
                <a:latin typeface="Arial"/>
              </a:rPr>
              <a:t>LSTM</a:t>
            </a:r>
            <a:r>
              <a:rPr lang="zh-CN" altLang="en-US" sz="1200" b="1" strike="noStrike" spc="-1" dirty="0">
                <a:latin typeface="Arial"/>
              </a:rPr>
              <a:t> </a:t>
            </a:r>
            <a:r>
              <a:rPr lang="en-US" altLang="zh-CN" sz="1200" b="1" strike="noStrike" spc="-1" dirty="0">
                <a:latin typeface="Arial"/>
              </a:rPr>
              <a:t>Memory</a:t>
            </a:r>
            <a:r>
              <a:rPr lang="zh-CN" altLang="en-US" sz="1200" b="1" strike="noStrike" spc="-1" dirty="0">
                <a:latin typeface="Arial"/>
              </a:rPr>
              <a:t> </a:t>
            </a:r>
            <a:r>
              <a:rPr lang="en-US" altLang="zh-CN" sz="1200" b="1" strike="noStrike" spc="-1" dirty="0">
                <a:latin typeface="Arial"/>
              </a:rPr>
              <a:t>Mechanism</a:t>
            </a:r>
            <a:r>
              <a:rPr lang="zh-CN" altLang="en-US" sz="1200" b="1" strike="noStrike" spc="-1" dirty="0">
                <a:latin typeface="Arial"/>
              </a:rPr>
              <a:t> </a:t>
            </a:r>
            <a:r>
              <a:rPr lang="en-US" altLang="zh-CN" sz="1200" b="1" strike="noStrike" spc="-1" dirty="0">
                <a:latin typeface="Arial"/>
              </a:rPr>
              <a:t>of</a:t>
            </a:r>
            <a:r>
              <a:rPr lang="zh-CN" altLang="en-US" sz="1200" b="1" strike="noStrike" spc="-1" dirty="0">
                <a:latin typeface="Arial"/>
              </a:rPr>
              <a:t> </a:t>
            </a:r>
            <a:r>
              <a:rPr lang="en-US" sz="1200" dirty="0"/>
              <a:t>us</a:t>
            </a:r>
            <a:r>
              <a:rPr lang="en-US" altLang="zh-CN" sz="1200" dirty="0"/>
              <a:t>ing</a:t>
            </a:r>
            <a:r>
              <a:rPr lang="zh-CN" altLang="en-US" sz="1200" dirty="0"/>
              <a:t> </a:t>
            </a:r>
            <a:r>
              <a:rPr lang="en-US" sz="1200" dirty="0"/>
              <a:t>gates (input, forget, output) to control flow of information</a:t>
            </a:r>
            <a:r>
              <a:rPr lang="zh-CN" altLang="en-US" sz="1200" dirty="0"/>
              <a:t> </a:t>
            </a:r>
            <a:r>
              <a:rPr lang="en-US" altLang="zh-CN" sz="1200" b="0" strike="noStrike" spc="-1" dirty="0">
                <a:latin typeface="Arial"/>
              </a:rPr>
              <a:t>I</a:t>
            </a:r>
            <a:r>
              <a:rPr lang="en-US" altLang="zh-CN" sz="1200" spc="-1" dirty="0">
                <a:latin typeface="Arial"/>
              </a:rPr>
              <a:t>n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the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task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like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seq2seq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(translation)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  <a:sym typeface="Wingdings" pitchFamily="2" charset="2"/>
              </a:rPr>
              <a:t></a:t>
            </a:r>
            <a:r>
              <a:rPr lang="zh-CN" altLang="en-US" sz="1200" spc="-1" dirty="0">
                <a:latin typeface="Arial"/>
                <a:sym typeface="Wingdings" pitchFamily="2" charset="2"/>
              </a:rPr>
              <a:t> </a:t>
            </a:r>
            <a:r>
              <a:rPr lang="en-US" altLang="zh-CN" sz="1200" spc="-1" dirty="0">
                <a:latin typeface="Arial"/>
                <a:sym typeface="Wingdings" pitchFamily="2" charset="2"/>
              </a:rPr>
              <a:t>thus</a:t>
            </a:r>
            <a:r>
              <a:rPr lang="zh-CN" altLang="en-US" sz="1200" spc="-1" dirty="0">
                <a:latin typeface="Arial"/>
                <a:sym typeface="Wingdings" pitchFamily="2" charset="2"/>
              </a:rPr>
              <a:t> </a:t>
            </a:r>
            <a:r>
              <a:rPr lang="en-US" altLang="zh-CN" sz="1200" spc="-1" dirty="0">
                <a:latin typeface="Arial"/>
                <a:sym typeface="Wingdings" pitchFamily="2" charset="2"/>
              </a:rPr>
              <a:t>LSTM</a:t>
            </a:r>
            <a:r>
              <a:rPr lang="zh-CN" altLang="en-US" sz="1200" spc="-1" dirty="0">
                <a:latin typeface="Arial"/>
                <a:sym typeface="Wingdings" pitchFamily="2" charset="2"/>
              </a:rPr>
              <a:t> </a:t>
            </a:r>
            <a:r>
              <a:rPr lang="en-US" altLang="zh-CN" sz="1200" spc="-1" dirty="0">
                <a:latin typeface="Arial"/>
                <a:sym typeface="Wingdings" pitchFamily="2" charset="2"/>
              </a:rPr>
              <a:t>performs</a:t>
            </a:r>
            <a:r>
              <a:rPr lang="zh-CN" altLang="en-US" sz="1200" spc="-1" dirty="0">
                <a:latin typeface="Arial"/>
                <a:sym typeface="Wingdings" pitchFamily="2" charset="2"/>
              </a:rPr>
              <a:t> </a:t>
            </a:r>
            <a:r>
              <a:rPr lang="en-US" altLang="zh-CN" sz="1200" spc="-1" dirty="0">
                <a:latin typeface="Arial"/>
                <a:sym typeface="Wingdings" pitchFamily="2" charset="2"/>
              </a:rPr>
              <a:t>better</a:t>
            </a:r>
            <a:r>
              <a:rPr lang="zh-CN" altLang="en-US" sz="1200" spc="-1" dirty="0">
                <a:latin typeface="Arial"/>
                <a:sym typeface="Wingdings" pitchFamily="2" charset="2"/>
              </a:rPr>
              <a:t> </a:t>
            </a:r>
            <a:r>
              <a:rPr lang="en-US" altLang="zh-CN" sz="1200" spc="-1" dirty="0">
                <a:latin typeface="Arial"/>
                <a:sym typeface="Wingdings" pitchFamily="2" charset="2"/>
              </a:rPr>
              <a:t>than</a:t>
            </a:r>
            <a:r>
              <a:rPr lang="zh-CN" altLang="en-US" sz="1200" spc="-1" dirty="0">
                <a:latin typeface="Arial"/>
                <a:sym typeface="Wingdings" pitchFamily="2" charset="2"/>
              </a:rPr>
              <a:t> </a:t>
            </a:r>
            <a:r>
              <a:rPr lang="en-US" altLang="zh-CN" sz="1200" spc="-1" dirty="0">
                <a:latin typeface="Arial"/>
                <a:sym typeface="Wingdings" pitchFamily="2" charset="2"/>
              </a:rPr>
              <a:t>the</a:t>
            </a:r>
            <a:r>
              <a:rPr lang="zh-CN" altLang="en-US" sz="1200" spc="-1" dirty="0">
                <a:latin typeface="Arial"/>
                <a:sym typeface="Wingdings" pitchFamily="2" charset="2"/>
              </a:rPr>
              <a:t> </a:t>
            </a:r>
            <a:r>
              <a:rPr lang="en-US" altLang="zh-CN" sz="1200" spc="-1" dirty="0" err="1">
                <a:latin typeface="Arial"/>
                <a:sym typeface="Wingdings" pitchFamily="2" charset="2"/>
              </a:rPr>
              <a:t>vanila</a:t>
            </a:r>
            <a:r>
              <a:rPr lang="zh-CN" altLang="en-US" sz="1200" spc="-1" dirty="0">
                <a:latin typeface="Arial"/>
                <a:sym typeface="Wingdings" pitchFamily="2" charset="2"/>
              </a:rPr>
              <a:t> </a:t>
            </a:r>
            <a:r>
              <a:rPr lang="en-US" altLang="zh-CN" sz="1200" spc="-1" dirty="0">
                <a:latin typeface="Arial"/>
                <a:sym typeface="Wingdings" pitchFamily="2" charset="2"/>
              </a:rPr>
              <a:t>RNN</a:t>
            </a:r>
            <a:r>
              <a:rPr lang="zh-CN" altLang="en-US" sz="1200" spc="-1" dirty="0">
                <a:latin typeface="Arial"/>
                <a:sym typeface="Wingdings" pitchFamily="2" charset="2"/>
              </a:rPr>
              <a:t> </a:t>
            </a:r>
            <a:endParaRPr lang="en-US" altLang="zh-CN" sz="1200" b="0" strike="noStrike" spc="-1" dirty="0">
              <a:latin typeface="Arial"/>
            </a:endParaRPr>
          </a:p>
          <a:p>
            <a:pPr marL="228600" indent="-228600">
              <a:buFontTx/>
              <a:buAutoNum type="arabicPeriod"/>
            </a:pPr>
            <a:r>
              <a:rPr lang="en-US" altLang="zh-CN" sz="1200" b="0" strike="noStrike" spc="-1" dirty="0">
                <a:latin typeface="Arial"/>
              </a:rPr>
              <a:t>In</a:t>
            </a:r>
            <a:r>
              <a:rPr lang="zh-CN" altLang="en-US" sz="1200" b="0" strike="noStrike" spc="-1" dirty="0">
                <a:latin typeface="Arial"/>
              </a:rPr>
              <a:t> </a:t>
            </a:r>
            <a:r>
              <a:rPr lang="en-US" altLang="zh-CN" sz="1200" b="0" strike="noStrike" spc="-1" dirty="0">
                <a:latin typeface="Arial"/>
              </a:rPr>
              <a:t>short:</a:t>
            </a:r>
            <a:r>
              <a:rPr lang="zh-CN" altLang="en-US" sz="1200" b="0" strike="noStrike" spc="-1" dirty="0">
                <a:latin typeface="Arial"/>
              </a:rPr>
              <a:t> </a:t>
            </a:r>
            <a:r>
              <a:rPr lang="en-US" altLang="zh-CN" sz="1200" b="0" strike="noStrike" spc="-1" dirty="0">
                <a:latin typeface="Arial"/>
              </a:rPr>
              <a:t>LSTM</a:t>
            </a:r>
            <a:r>
              <a:rPr lang="zh-CN" altLang="en-US" sz="1200" b="0" strike="noStrike" spc="-1" dirty="0">
                <a:latin typeface="Arial"/>
              </a:rPr>
              <a:t> </a:t>
            </a:r>
            <a:r>
              <a:rPr lang="en-US" altLang="zh-CN" sz="1200" b="0" strike="noStrike" spc="-1" dirty="0">
                <a:latin typeface="Arial"/>
              </a:rPr>
              <a:t>out</a:t>
            </a:r>
            <a:r>
              <a:rPr lang="en-US" altLang="zh-CN" sz="1200" spc="-1" dirty="0">
                <a:latin typeface="Arial"/>
              </a:rPr>
              <a:t>performs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RNN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because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it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migrates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the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vanishing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gradient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problem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and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captures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long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range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dependencies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more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effectively.</a:t>
            </a:r>
            <a:endParaRPr lang="en-US" sz="1200" b="0" strike="noStrike" spc="-1" dirty="0">
              <a:latin typeface="Arial"/>
            </a:endParaRPr>
          </a:p>
          <a:p>
            <a:endParaRPr lang="en-US" sz="12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287676" y="18138"/>
            <a:ext cx="8542404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Seq2Seq Explanation (RNN vs RNN-with-Attention) </a:t>
            </a:r>
            <a:endParaRPr lang="en-US" sz="2000" b="1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344160" y="482204"/>
            <a:ext cx="7277400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Compare your RNN result to your RNN-with-Attention result and explain why they differ.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0A8A69C9-7427-D1C4-0962-4972638A90B6}"/>
              </a:ext>
            </a:extLst>
          </p:cNvPr>
          <p:cNvSpPr/>
          <p:nvPr/>
        </p:nvSpPr>
        <p:spPr>
          <a:xfrm>
            <a:off x="344160" y="1052444"/>
            <a:ext cx="7277400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altLang="zh-CN" sz="1200" b="1" strike="noStrike" spc="-1" dirty="0">
                <a:latin typeface="Arial"/>
                <a:ea typeface="Arial"/>
              </a:rPr>
              <a:t>Comparison</a:t>
            </a:r>
            <a:r>
              <a:rPr lang="zh-CN" altLang="en-US" sz="1200" b="1" strike="noStrike" spc="-1" dirty="0">
                <a:latin typeface="Arial"/>
                <a:ea typeface="Arial"/>
              </a:rPr>
              <a:t> </a:t>
            </a:r>
            <a:r>
              <a:rPr lang="en-US" altLang="zh-CN" sz="1200" b="1" strike="noStrike" spc="-1" dirty="0">
                <a:latin typeface="Arial"/>
                <a:ea typeface="Arial"/>
              </a:rPr>
              <a:t>Item</a:t>
            </a:r>
            <a:r>
              <a:rPr lang="zh-CN" altLang="en-US" sz="1200" b="1" strike="noStrike" spc="-1" dirty="0">
                <a:latin typeface="Arial"/>
                <a:ea typeface="Arial"/>
              </a:rPr>
              <a:t> </a:t>
            </a:r>
            <a:r>
              <a:rPr lang="en-US" altLang="zh-CN" sz="1200" b="1" strike="noStrike" spc="-1" dirty="0">
                <a:latin typeface="Arial"/>
                <a:ea typeface="Arial"/>
              </a:rPr>
              <a:t>w/</a:t>
            </a:r>
            <a:r>
              <a:rPr lang="zh-CN" altLang="en-US" sz="1200" b="1" strike="noStrike" spc="-1" dirty="0">
                <a:latin typeface="Arial"/>
                <a:ea typeface="Arial"/>
              </a:rPr>
              <a:t> </a:t>
            </a:r>
            <a:r>
              <a:rPr lang="en-US" altLang="zh-CN" sz="1200" b="1" strike="noStrike" spc="-1" dirty="0">
                <a:latin typeface="Arial"/>
                <a:ea typeface="Arial"/>
              </a:rPr>
              <a:t>results</a:t>
            </a:r>
            <a:r>
              <a:rPr lang="en-US" altLang="zh-CN" sz="1200" b="0" strike="noStrike" spc="-1" dirty="0">
                <a:latin typeface="Arial"/>
                <a:ea typeface="Arial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altLang="zh-CN" sz="1200" spc="-1" dirty="0">
                <a:latin typeface="Arial"/>
              </a:rPr>
              <a:t>RNN: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sz="1200" dirty="0"/>
              <a:t>Training Perplexity ≈ 100, Validation Perplexity ≈ </a:t>
            </a:r>
            <a:r>
              <a:rPr lang="en-US" altLang="zh-CN" sz="1200" dirty="0"/>
              <a:t>110</a:t>
            </a:r>
            <a:endParaRPr lang="en-US" altLang="zh-CN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altLang="zh-CN" sz="1200" spc="-1" dirty="0">
                <a:latin typeface="Arial"/>
              </a:rPr>
              <a:t>RNN w/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attention: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sz="1200" dirty="0"/>
              <a:t>Training Perplexity ≈ </a:t>
            </a:r>
            <a:r>
              <a:rPr lang="en-US" altLang="zh-CN" sz="1200" dirty="0"/>
              <a:t>4.5</a:t>
            </a:r>
            <a:r>
              <a:rPr lang="en-US" sz="1200" dirty="0"/>
              <a:t>, Validation Perplexity ≈ </a:t>
            </a:r>
            <a:r>
              <a:rPr lang="en-US" altLang="zh-CN" sz="1200" dirty="0"/>
              <a:t>6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4F986CDA-B085-CCB4-2E43-5A975A5948A4}"/>
              </a:ext>
            </a:extLst>
          </p:cNvPr>
          <p:cNvSpPr/>
          <p:nvPr/>
        </p:nvSpPr>
        <p:spPr>
          <a:xfrm>
            <a:off x="344159" y="1816570"/>
            <a:ext cx="7616499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altLang="zh-CN" sz="1200" b="1" strike="noStrike" spc="-1" dirty="0">
                <a:latin typeface="Arial"/>
                <a:ea typeface="Arial"/>
              </a:rPr>
              <a:t>Observations: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en-US" altLang="zh-CN" sz="1200" dirty="0"/>
              <a:t>I</a:t>
            </a:r>
            <a:r>
              <a:rPr lang="zh-CN" altLang="en-US" sz="1200" dirty="0"/>
              <a:t> </a:t>
            </a:r>
            <a:r>
              <a:rPr lang="en-US" altLang="zh-CN" sz="1200" dirty="0"/>
              <a:t>summarized</a:t>
            </a:r>
            <a:r>
              <a:rPr lang="zh-CN" altLang="en-US" sz="1200" dirty="0"/>
              <a:t> </a:t>
            </a:r>
            <a:r>
              <a:rPr lang="en-US" altLang="zh-CN" sz="1200" dirty="0"/>
              <a:t>the</a:t>
            </a:r>
            <a:r>
              <a:rPr lang="zh-CN" altLang="en-US" sz="1200" dirty="0"/>
              <a:t> </a:t>
            </a:r>
            <a:r>
              <a:rPr lang="en-US" altLang="zh-CN" sz="1200" dirty="0"/>
              <a:t>differences</a:t>
            </a:r>
            <a:r>
              <a:rPr lang="zh-CN" altLang="en-US" sz="1200" dirty="0"/>
              <a:t> </a:t>
            </a:r>
            <a:r>
              <a:rPr lang="en-US" altLang="zh-CN" sz="1200" dirty="0"/>
              <a:t>&amp;&amp;</a:t>
            </a:r>
            <a:r>
              <a:rPr lang="zh-CN" altLang="en-US" sz="1200" dirty="0"/>
              <a:t> </a:t>
            </a:r>
            <a:r>
              <a:rPr lang="en-US" altLang="zh-CN" sz="1200" dirty="0"/>
              <a:t>observations</a:t>
            </a:r>
            <a:r>
              <a:rPr lang="zh-CN" altLang="en-US" sz="1200" dirty="0"/>
              <a:t> </a:t>
            </a:r>
            <a:r>
              <a:rPr lang="en-US" altLang="zh-CN" sz="1200" dirty="0"/>
              <a:t>in</a:t>
            </a:r>
            <a:r>
              <a:rPr lang="zh-CN" altLang="en-US" sz="1200" dirty="0"/>
              <a:t> </a:t>
            </a:r>
            <a:r>
              <a:rPr lang="en-US" altLang="zh-CN" sz="1200" dirty="0"/>
              <a:t>four</a:t>
            </a:r>
            <a:r>
              <a:rPr lang="zh-CN" altLang="en-US" sz="1200" dirty="0"/>
              <a:t> </a:t>
            </a:r>
            <a:r>
              <a:rPr lang="en-US" altLang="zh-CN" sz="1200" dirty="0"/>
              <a:t>metrics:</a:t>
            </a:r>
            <a:r>
              <a:rPr lang="zh-CN" altLang="en-US" sz="1200" dirty="0"/>
              <a:t> </a:t>
            </a:r>
            <a:endParaRPr lang="en-US" altLang="zh-CN" sz="1200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200" strike="noStrike" spc="-1" dirty="0">
                <a:latin typeface="Arial"/>
                <a:ea typeface="Arial"/>
              </a:rPr>
              <a:t>Training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loss:</a:t>
            </a:r>
            <a:r>
              <a:rPr lang="en-US" sz="1200" dirty="0"/>
              <a:t> </a:t>
            </a:r>
            <a:r>
              <a:rPr lang="en-US" altLang="zh-CN" sz="1200" dirty="0"/>
              <a:t>attention</a:t>
            </a:r>
            <a:r>
              <a:rPr lang="zh-CN" altLang="en-US" sz="1200" dirty="0"/>
              <a:t> </a:t>
            </a:r>
            <a:r>
              <a:rPr lang="en-US" altLang="zh-CN" sz="1200" dirty="0"/>
              <a:t>added</a:t>
            </a:r>
            <a:r>
              <a:rPr lang="zh-CN" altLang="en-US" sz="1200" dirty="0"/>
              <a:t> </a:t>
            </a:r>
            <a:r>
              <a:rPr lang="en-US" altLang="zh-CN" sz="1200" dirty="0"/>
              <a:t>is</a:t>
            </a:r>
            <a:r>
              <a:rPr lang="zh-CN" altLang="en-US" sz="1200" dirty="0"/>
              <a:t> </a:t>
            </a:r>
            <a:r>
              <a:rPr lang="en-US" altLang="zh-CN" sz="1200" dirty="0"/>
              <a:t>faster</a:t>
            </a:r>
            <a:r>
              <a:rPr lang="zh-CN" altLang="en-US" sz="1200" dirty="0"/>
              <a:t> </a:t>
            </a:r>
            <a:r>
              <a:rPr lang="en-US" altLang="zh-CN" sz="1200" dirty="0"/>
              <a:t>and</a:t>
            </a:r>
            <a:r>
              <a:rPr lang="zh-CN" altLang="en-US" sz="1200" dirty="0"/>
              <a:t> </a:t>
            </a:r>
            <a:r>
              <a:rPr lang="en-US" altLang="zh-CN" sz="1200" dirty="0"/>
              <a:t>helps</a:t>
            </a:r>
            <a:r>
              <a:rPr lang="zh-CN" altLang="en-US" sz="1200" dirty="0"/>
              <a:t> </a:t>
            </a:r>
            <a:r>
              <a:rPr lang="en-US" sz="1200" dirty="0"/>
              <a:t>LSTM </a:t>
            </a:r>
            <a:r>
              <a:rPr lang="en-US" altLang="zh-CN" sz="1200" dirty="0"/>
              <a:t>in</a:t>
            </a:r>
            <a:r>
              <a:rPr lang="zh-CN" altLang="en-US" sz="1200" dirty="0"/>
              <a:t> </a:t>
            </a:r>
            <a:r>
              <a:rPr lang="en-US" altLang="zh-CN" sz="1200" dirty="0"/>
              <a:t>convergence.</a:t>
            </a:r>
            <a:endParaRPr lang="en-US" sz="1200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200" strike="noStrike" spc="-1" dirty="0">
                <a:latin typeface="Arial"/>
                <a:ea typeface="Arial"/>
              </a:rPr>
              <a:t>Training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Perplexity: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attention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added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helps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pc="-1" dirty="0">
                <a:latin typeface="Arial"/>
                <a:ea typeface="Arial"/>
              </a:rPr>
              <a:t>to</a:t>
            </a:r>
            <a:r>
              <a:rPr lang="zh-CN" altLang="en-US" sz="1200" spc="-1" dirty="0">
                <a:latin typeface="Arial"/>
                <a:ea typeface="Arial"/>
              </a:rPr>
              <a:t> </a:t>
            </a:r>
            <a:r>
              <a:rPr lang="en-US" altLang="zh-CN" sz="1200" spc="-1" dirty="0">
                <a:latin typeface="Arial"/>
                <a:ea typeface="Arial"/>
              </a:rPr>
              <a:t>get</a:t>
            </a:r>
            <a:r>
              <a:rPr lang="zh-CN" altLang="en-US" sz="1200" spc="-1" dirty="0">
                <a:latin typeface="Arial"/>
                <a:ea typeface="Arial"/>
              </a:rPr>
              <a:t> </a:t>
            </a:r>
            <a:r>
              <a:rPr lang="en-US" altLang="zh-CN" sz="1200" spc="-1" dirty="0">
                <a:latin typeface="Arial"/>
                <a:ea typeface="Arial"/>
              </a:rPr>
              <a:t>more</a:t>
            </a:r>
            <a:r>
              <a:rPr lang="zh-CN" altLang="en-US" sz="1200" spc="-1" dirty="0">
                <a:latin typeface="Arial"/>
                <a:ea typeface="Arial"/>
              </a:rPr>
              <a:t> </a:t>
            </a:r>
            <a:r>
              <a:rPr lang="en-US" altLang="zh-CN" sz="1200" spc="-1" dirty="0">
                <a:latin typeface="Arial"/>
                <a:ea typeface="Arial"/>
              </a:rPr>
              <a:t>accuracy</a:t>
            </a:r>
            <a:r>
              <a:rPr lang="zh-CN" altLang="en-US" sz="1200" spc="-1" dirty="0">
                <a:latin typeface="Arial"/>
                <a:ea typeface="Arial"/>
              </a:rPr>
              <a:t> </a:t>
            </a:r>
            <a:r>
              <a:rPr lang="en-US" altLang="zh-CN" sz="1200" spc="-1" dirty="0">
                <a:latin typeface="Arial"/>
                <a:ea typeface="Arial"/>
              </a:rPr>
              <a:t>in</a:t>
            </a:r>
            <a:r>
              <a:rPr lang="zh-CN" altLang="en-US" sz="1200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prediction</a:t>
            </a:r>
            <a:r>
              <a:rPr lang="en-US" altLang="zh-CN" sz="1200" spc="-1" dirty="0">
                <a:latin typeface="Arial"/>
                <a:ea typeface="Arial"/>
              </a:rPr>
              <a:t>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200" strike="noStrike" spc="-1" dirty="0">
                <a:latin typeface="Arial"/>
                <a:ea typeface="Arial"/>
              </a:rPr>
              <a:t>Validation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pc="-1" dirty="0">
                <a:latin typeface="Arial"/>
                <a:ea typeface="Arial"/>
              </a:rPr>
              <a:t>Loss:</a:t>
            </a:r>
            <a:r>
              <a:rPr lang="zh-CN" altLang="en-US" sz="1200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generalization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improves.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200" strike="noStrike" spc="-1" dirty="0">
                <a:latin typeface="Arial"/>
                <a:ea typeface="Arial"/>
              </a:rPr>
              <a:t>Validation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Perplexity: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attention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added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helps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to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perform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better,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the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decoder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can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selectively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use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encoder</a:t>
            </a:r>
            <a:r>
              <a:rPr lang="zh-CN" altLang="en-US" sz="1200" strike="noStrike" spc="-1" dirty="0">
                <a:latin typeface="Arial"/>
                <a:ea typeface="Arial"/>
              </a:rPr>
              <a:t> </a:t>
            </a:r>
            <a:r>
              <a:rPr lang="en-US" altLang="zh-CN" sz="1200" strike="noStrike" spc="-1" dirty="0">
                <a:latin typeface="Arial"/>
                <a:ea typeface="Arial"/>
              </a:rPr>
              <a:t>info.</a:t>
            </a:r>
            <a:endParaRPr lang="en-US" altLang="zh-CN" sz="1200" spc="-1" dirty="0">
              <a:latin typeface="Arial"/>
              <a:ea typeface="Arial"/>
            </a:endParaRPr>
          </a:p>
          <a:p>
            <a:pPr>
              <a:lnSpc>
                <a:spcPct val="100000"/>
              </a:lnSpc>
            </a:pPr>
            <a:endParaRPr lang="en-US" altLang="zh-CN" sz="1200" strike="noStrike" spc="-1" dirty="0">
              <a:latin typeface="Arial"/>
              <a:ea typeface="Arial"/>
            </a:endParaRPr>
          </a:p>
          <a:p>
            <a:pPr>
              <a:lnSpc>
                <a:spcPct val="100000"/>
              </a:lnSpc>
            </a:pPr>
            <a:r>
              <a:rPr lang="en-US" altLang="zh-CN" sz="1200" b="1" strike="noStrike" spc="-1" dirty="0">
                <a:latin typeface="Arial"/>
                <a:ea typeface="Arial"/>
              </a:rPr>
              <a:t>Explanation of difference:</a:t>
            </a:r>
          </a:p>
          <a:p>
            <a:pPr marL="228600" indent="-228600">
              <a:buFontTx/>
              <a:buAutoNum type="arabicPeriod"/>
            </a:pPr>
            <a:r>
              <a:rPr lang="en-US" altLang="zh-CN" sz="1200" spc="-1" dirty="0">
                <a:latin typeface="Arial"/>
              </a:rPr>
              <a:t>Adding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attention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to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vanilla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dramatically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improves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the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validation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perplexity</a:t>
            </a:r>
          </a:p>
          <a:p>
            <a:pPr marL="228600" indent="-228600">
              <a:buFontTx/>
              <a:buAutoNum type="arabicPeriod"/>
            </a:pPr>
            <a:r>
              <a:rPr lang="en-US" altLang="zh-CN" sz="1200" b="0" strike="noStrike" spc="-1" dirty="0">
                <a:latin typeface="Arial"/>
              </a:rPr>
              <a:t>Attention</a:t>
            </a:r>
            <a:r>
              <a:rPr lang="zh-CN" altLang="en-US" sz="1200" b="0" strike="noStrike" spc="-1" dirty="0">
                <a:latin typeface="Arial"/>
              </a:rPr>
              <a:t> </a:t>
            </a:r>
            <a:r>
              <a:rPr lang="en-US" altLang="zh-CN" sz="1200" b="0" strike="noStrike" spc="-1" dirty="0">
                <a:latin typeface="Arial"/>
              </a:rPr>
              <a:t>added</a:t>
            </a:r>
            <a:r>
              <a:rPr lang="zh-CN" altLang="en-US" sz="1200" b="0" strike="noStrike" spc="-1" dirty="0">
                <a:latin typeface="Arial"/>
              </a:rPr>
              <a:t> </a:t>
            </a:r>
            <a:r>
              <a:rPr lang="en-US" altLang="zh-CN" sz="1200" b="0" strike="noStrike" spc="-1" dirty="0">
                <a:latin typeface="Arial"/>
              </a:rPr>
              <a:t>allows</a:t>
            </a:r>
            <a:r>
              <a:rPr lang="zh-CN" altLang="en-US" sz="1200" b="0" strike="noStrike" spc="-1" dirty="0">
                <a:latin typeface="Arial"/>
              </a:rPr>
              <a:t> </a:t>
            </a:r>
            <a:r>
              <a:rPr lang="en-US" altLang="zh-CN" sz="1200" b="0" strike="noStrike" spc="-1" dirty="0">
                <a:latin typeface="Arial"/>
              </a:rPr>
              <a:t>the</a:t>
            </a:r>
            <a:r>
              <a:rPr lang="zh-CN" altLang="en-US" sz="1200" b="0" strike="noStrike" spc="-1" dirty="0">
                <a:latin typeface="Arial"/>
              </a:rPr>
              <a:t> </a:t>
            </a:r>
            <a:r>
              <a:rPr lang="en-US" altLang="zh-CN" sz="1200" b="0" strike="noStrike" spc="-1" dirty="0">
                <a:latin typeface="Arial"/>
              </a:rPr>
              <a:t>decoder</a:t>
            </a:r>
            <a:r>
              <a:rPr lang="zh-CN" altLang="en-US" sz="1200" b="0" strike="noStrike" spc="-1" dirty="0">
                <a:latin typeface="Arial"/>
              </a:rPr>
              <a:t> </a:t>
            </a:r>
            <a:r>
              <a:rPr lang="en-US" altLang="zh-CN" sz="1200" b="0" strike="noStrike" spc="-1" dirty="0">
                <a:latin typeface="Arial"/>
              </a:rPr>
              <a:t>to</a:t>
            </a:r>
            <a:r>
              <a:rPr lang="zh-CN" altLang="en-US" sz="1200" b="0" strike="noStrike" spc="-1" dirty="0">
                <a:latin typeface="Arial"/>
              </a:rPr>
              <a:t> </a:t>
            </a:r>
            <a:r>
              <a:rPr lang="en-US" altLang="zh-CN" sz="1200" b="0" strike="noStrike" spc="-1" dirty="0">
                <a:latin typeface="Arial"/>
              </a:rPr>
              <a:t>focus</a:t>
            </a:r>
            <a:r>
              <a:rPr lang="zh-CN" altLang="en-US" sz="1200" b="0" strike="noStrike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on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the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most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relevant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part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of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the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sequence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sources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of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each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step,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instead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of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solely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relying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on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the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last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hidden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state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of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the</a:t>
            </a:r>
            <a:r>
              <a:rPr lang="zh-CN" altLang="en-US" sz="1200" spc="-1" dirty="0">
                <a:latin typeface="Arial"/>
              </a:rPr>
              <a:t> </a:t>
            </a:r>
            <a:r>
              <a:rPr lang="en-US" altLang="zh-CN" sz="1200" spc="-1" dirty="0">
                <a:latin typeface="Arial"/>
              </a:rPr>
              <a:t>encoder.</a:t>
            </a:r>
          </a:p>
          <a:p>
            <a:endParaRPr lang="en-US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379511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05D9B4-1C28-C8EC-3767-05D81AD0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60" y="-31102"/>
            <a:ext cx="8193280" cy="858600"/>
          </a:xfrm>
        </p:spPr>
        <p:txBody>
          <a:bodyPr/>
          <a:lstStyle/>
          <a:p>
            <a:r>
              <a:rPr lang="en-US" sz="2000" b="1" dirty="0">
                <a:solidFill>
                  <a:schemeClr val="accent1"/>
                </a:solidFill>
              </a:rPr>
              <a:t>Seq2Seq Results – Best model</a:t>
            </a:r>
            <a:br>
              <a:rPr lang="en-US" sz="2000" b="1" dirty="0">
                <a:solidFill>
                  <a:schemeClr val="accent1"/>
                </a:solidFill>
              </a:rPr>
            </a:br>
            <a:r>
              <a:rPr lang="en-US" sz="1600" b="1" dirty="0">
                <a:solidFill>
                  <a:schemeClr val="accent1"/>
                </a:solidFill>
              </a:rPr>
              <a:t>Values are for last epoch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4BA3E-6B97-3522-45B4-21C3C6858334}"/>
              </a:ext>
            </a:extLst>
          </p:cNvPr>
          <p:cNvSpPr txBox="1"/>
          <p:nvPr/>
        </p:nvSpPr>
        <p:spPr>
          <a:xfrm>
            <a:off x="375008" y="681109"/>
            <a:ext cx="79516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Your best model after hyper-parameter tuning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B8C98F-AEAC-8BC0-8E13-1C59FE48BF95}"/>
              </a:ext>
            </a:extLst>
          </p:cNvPr>
          <p:cNvSpPr txBox="1"/>
          <p:nvPr/>
        </p:nvSpPr>
        <p:spPr>
          <a:xfrm>
            <a:off x="4840941" y="681109"/>
            <a:ext cx="3056563" cy="1606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dirty="0">
                <a:solidFill>
                  <a:srgbClr val="0070C0"/>
                </a:solidFill>
              </a:rPr>
              <a:t>Best model</a:t>
            </a:r>
          </a:p>
          <a:p>
            <a:pPr>
              <a:lnSpc>
                <a:spcPts val="2400"/>
              </a:lnSpc>
            </a:pPr>
            <a:r>
              <a:rPr lang="en-US" dirty="0"/>
              <a:t>Training Loss: </a:t>
            </a:r>
            <a:r>
              <a:rPr lang="en-US" altLang="zh-CN" dirty="0"/>
              <a:t>1.49</a:t>
            </a: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Training Perplexity: </a:t>
            </a:r>
            <a:r>
              <a:rPr lang="en-US" altLang="zh-CN" dirty="0"/>
              <a:t>4.46</a:t>
            </a: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Validation Loss: </a:t>
            </a:r>
            <a:r>
              <a:rPr lang="en-US" altLang="zh-CN" dirty="0"/>
              <a:t>1.85</a:t>
            </a: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Validation Perplexity: </a:t>
            </a:r>
            <a:r>
              <a:rPr lang="en-US" altLang="zh-CN" dirty="0"/>
              <a:t>6.37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D89530-4810-B9EA-289E-1950DB5618C1}"/>
              </a:ext>
            </a:extLst>
          </p:cNvPr>
          <p:cNvSpPr txBox="1"/>
          <p:nvPr/>
        </p:nvSpPr>
        <p:spPr>
          <a:xfrm>
            <a:off x="375008" y="2479798"/>
            <a:ext cx="8024117" cy="375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dirty="0"/>
              <a:t>List your best model hyper-parameter values including model type: 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5F15D-F817-73BC-CF10-A0E30DFEC131}"/>
              </a:ext>
            </a:extLst>
          </p:cNvPr>
          <p:cNvSpPr txBox="1"/>
          <p:nvPr/>
        </p:nvSpPr>
        <p:spPr>
          <a:xfrm>
            <a:off x="375008" y="2773620"/>
            <a:ext cx="704795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dirty="0">
                <a:solidFill>
                  <a:srgbClr val="0070C0"/>
                </a:solidFill>
              </a:rPr>
              <a:t>Best model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hyper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parameter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values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including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model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type: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ts val="2400"/>
              </a:lnSpc>
            </a:pP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en-US" dirty="0"/>
              <a:t>: </a:t>
            </a:r>
            <a:r>
              <a:rPr lang="en-US" altLang="zh-CN" dirty="0"/>
              <a:t>RNN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Attention</a:t>
            </a:r>
            <a:endParaRPr lang="en-US" dirty="0"/>
          </a:p>
          <a:p>
            <a:pPr>
              <a:buNone/>
            </a:pPr>
            <a:r>
              <a:rPr lang="en-US" dirty="0"/>
              <a:t>Hidden size: 2</a:t>
            </a:r>
          </a:p>
          <a:p>
            <a:pPr>
              <a:buNone/>
            </a:pPr>
            <a:r>
              <a:rPr lang="en-US" dirty="0"/>
              <a:t>Embedding size: </a:t>
            </a:r>
            <a:r>
              <a:rPr lang="en-US" altLang="zh-CN" dirty="0"/>
              <a:t>4</a:t>
            </a:r>
            <a:endParaRPr lang="en-US" dirty="0"/>
          </a:p>
          <a:p>
            <a:pPr>
              <a:buNone/>
            </a:pPr>
            <a:r>
              <a:rPr lang="en-US" dirty="0"/>
              <a:t>Number of attention heads: </a:t>
            </a:r>
            <a:r>
              <a:rPr lang="en-US" altLang="zh-CN" dirty="0"/>
              <a:t>1</a:t>
            </a:r>
            <a:endParaRPr lang="en-US" dirty="0"/>
          </a:p>
          <a:p>
            <a:pPr>
              <a:buNone/>
            </a:pPr>
            <a:r>
              <a:rPr lang="en-US" dirty="0"/>
              <a:t>Feedforward hidden size: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</a:p>
          <a:p>
            <a:pPr>
              <a:buNone/>
            </a:pPr>
            <a:r>
              <a:rPr lang="en-US" altLang="zh-CN" dirty="0"/>
              <a:t>LR:</a:t>
            </a:r>
            <a:r>
              <a:rPr lang="zh-CN" altLang="en-US" dirty="0"/>
              <a:t> </a:t>
            </a:r>
            <a:r>
              <a:rPr lang="en-US" altLang="zh-CN" dirty="0"/>
              <a:t>1e-3</a:t>
            </a:r>
          </a:p>
          <a:p>
            <a:pPr>
              <a:buNone/>
            </a:pPr>
            <a:r>
              <a:rPr lang="en-US" altLang="zh-CN" dirty="0"/>
              <a:t>Dropout:0.2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11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05D9B4-1C28-C8EC-3767-05D81AD0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60" y="-31102"/>
            <a:ext cx="8193280" cy="858600"/>
          </a:xfrm>
        </p:spPr>
        <p:txBody>
          <a:bodyPr/>
          <a:lstStyle/>
          <a:p>
            <a:r>
              <a:rPr lang="en-US" sz="2000" b="1" dirty="0">
                <a:solidFill>
                  <a:schemeClr val="accent1"/>
                </a:solidFill>
              </a:rPr>
              <a:t>Seq2Seq Best model Learning Curves (Perplexity)</a:t>
            </a:r>
          </a:p>
        </p:txBody>
      </p:sp>
      <p:pic>
        <p:nvPicPr>
          <p:cNvPr id="4" name="Picture 3" descr="A graph of a number of graphs&#10;&#10;AI-generated content may be incorrect.">
            <a:extLst>
              <a:ext uri="{FF2B5EF4-FFF2-40B4-BE49-F238E27FC236}">
                <a16:creationId xmlns:a16="http://schemas.microsoft.com/office/drawing/2014/main" id="{E4370F34-148A-BF45-861E-929A86CB2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60" y="1054290"/>
            <a:ext cx="4240205" cy="34178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B0DA95-F9DA-FE46-8A63-DCCB7F33E742}"/>
              </a:ext>
            </a:extLst>
          </p:cNvPr>
          <p:cNvSpPr txBox="1"/>
          <p:nvPr/>
        </p:nvSpPr>
        <p:spPr>
          <a:xfrm>
            <a:off x="5065161" y="1364695"/>
            <a:ext cx="3614571" cy="2204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altLang="zh-CN" sz="1200" dirty="0">
                <a:solidFill>
                  <a:srgbClr val="0070C0"/>
                </a:solidFill>
              </a:rPr>
              <a:t>Describe</a:t>
            </a:r>
            <a:r>
              <a:rPr lang="zh-CN" altLang="en-US" sz="1200" dirty="0">
                <a:solidFill>
                  <a:srgbClr val="0070C0"/>
                </a:solidFill>
              </a:rPr>
              <a:t> </a:t>
            </a:r>
            <a:r>
              <a:rPr lang="en-US" altLang="zh-CN" sz="1200" dirty="0">
                <a:solidFill>
                  <a:srgbClr val="0070C0"/>
                </a:solidFill>
              </a:rPr>
              <a:t>in</a:t>
            </a:r>
            <a:r>
              <a:rPr lang="zh-CN" altLang="en-US" sz="1200" dirty="0">
                <a:solidFill>
                  <a:srgbClr val="0070C0"/>
                </a:solidFill>
              </a:rPr>
              <a:t> </a:t>
            </a:r>
            <a:r>
              <a:rPr lang="en-US" altLang="zh-CN" sz="1200" dirty="0">
                <a:solidFill>
                  <a:srgbClr val="0070C0"/>
                </a:solidFill>
              </a:rPr>
              <a:t>text:</a:t>
            </a:r>
            <a:endParaRPr lang="en-US" sz="1200" dirty="0">
              <a:solidFill>
                <a:srgbClr val="0070C0"/>
              </a:solidFill>
            </a:endParaRPr>
          </a:p>
          <a:p>
            <a:pPr>
              <a:lnSpc>
                <a:spcPts val="2400"/>
              </a:lnSpc>
            </a:pPr>
            <a:r>
              <a:rPr lang="en-US" altLang="zh-CN" sz="1200" dirty="0"/>
              <a:t>-</a:t>
            </a:r>
            <a:r>
              <a:rPr lang="zh-CN" altLang="en-US" sz="1200" dirty="0"/>
              <a:t> </a:t>
            </a:r>
            <a:r>
              <a:rPr lang="en-US" altLang="zh-CN" sz="1200" dirty="0"/>
              <a:t>Learning</a:t>
            </a:r>
            <a:r>
              <a:rPr lang="zh-CN" altLang="en-US" sz="1200" dirty="0"/>
              <a:t> </a:t>
            </a:r>
            <a:r>
              <a:rPr lang="en-US" altLang="zh-CN" sz="1200" dirty="0"/>
              <a:t>curve</a:t>
            </a:r>
            <a:r>
              <a:rPr lang="zh-CN" altLang="en-US" sz="1200" dirty="0"/>
              <a:t> </a:t>
            </a:r>
            <a:r>
              <a:rPr lang="en-US" altLang="zh-CN" sz="1200" dirty="0"/>
              <a:t>starts</a:t>
            </a:r>
            <a:r>
              <a:rPr lang="zh-CN" altLang="en-US" sz="1200" dirty="0"/>
              <a:t> </a:t>
            </a:r>
            <a:r>
              <a:rPr lang="en-US" altLang="zh-CN" sz="1200" dirty="0"/>
              <a:t>very</a:t>
            </a:r>
            <a:r>
              <a:rPr lang="zh-CN" altLang="en-US" sz="1200" dirty="0"/>
              <a:t> </a:t>
            </a:r>
            <a:r>
              <a:rPr lang="en-US" altLang="zh-CN" sz="1200" dirty="0"/>
              <a:t>high</a:t>
            </a:r>
            <a:r>
              <a:rPr lang="zh-CN" altLang="en-US" sz="1200" dirty="0"/>
              <a:t> </a:t>
            </a:r>
            <a:r>
              <a:rPr lang="en-US" altLang="zh-CN" sz="1200" dirty="0"/>
              <a:t>for</a:t>
            </a:r>
            <a:r>
              <a:rPr lang="zh-CN" altLang="en-US" sz="1200" dirty="0"/>
              <a:t> </a:t>
            </a:r>
            <a:r>
              <a:rPr lang="en-US" altLang="zh-CN" sz="1200" dirty="0"/>
              <a:t>seq2seqRNN</a:t>
            </a:r>
          </a:p>
          <a:p>
            <a:pPr marL="171450" indent="-171450">
              <a:lnSpc>
                <a:spcPts val="2400"/>
              </a:lnSpc>
              <a:buFontTx/>
              <a:buChar char="-"/>
            </a:pPr>
            <a:r>
              <a:rPr lang="en-US" altLang="zh-CN" sz="1200" dirty="0"/>
              <a:t>Gets</a:t>
            </a:r>
            <a:r>
              <a:rPr lang="zh-CN" altLang="en-US" sz="1200" dirty="0"/>
              <a:t> </a:t>
            </a:r>
            <a:r>
              <a:rPr lang="en-US" altLang="zh-CN" sz="1200" dirty="0"/>
              <a:t>flatten</a:t>
            </a:r>
            <a:r>
              <a:rPr lang="zh-CN" altLang="en-US" sz="1200" dirty="0"/>
              <a:t> </a:t>
            </a:r>
            <a:r>
              <a:rPr lang="en-US" altLang="zh-CN" sz="1200" dirty="0"/>
              <a:t>after</a:t>
            </a:r>
            <a:r>
              <a:rPr lang="zh-CN" altLang="en-US" sz="1200" dirty="0"/>
              <a:t> </a:t>
            </a:r>
            <a:r>
              <a:rPr lang="en-US" altLang="zh-CN" sz="1200" dirty="0"/>
              <a:t>around</a:t>
            </a:r>
            <a:r>
              <a:rPr lang="zh-CN" altLang="en-US" sz="1200" dirty="0"/>
              <a:t> </a:t>
            </a:r>
            <a:r>
              <a:rPr lang="en-US" altLang="zh-CN" sz="1200" dirty="0"/>
              <a:t>10</a:t>
            </a:r>
            <a:r>
              <a:rPr lang="zh-CN" altLang="en-US" sz="1200" dirty="0"/>
              <a:t> </a:t>
            </a:r>
            <a:r>
              <a:rPr lang="en-US" altLang="zh-CN" sz="1200" dirty="0"/>
              <a:t>epochs,</a:t>
            </a:r>
            <a:r>
              <a:rPr lang="zh-CN" altLang="en-US" sz="1200" dirty="0"/>
              <a:t> </a:t>
            </a:r>
            <a:r>
              <a:rPr lang="en-US" altLang="zh-CN" sz="1200" dirty="0"/>
              <a:t>indicating</a:t>
            </a:r>
            <a:r>
              <a:rPr lang="zh-CN" altLang="en-US" sz="1200" dirty="0"/>
              <a:t> </a:t>
            </a:r>
            <a:r>
              <a:rPr lang="en-US" altLang="zh-CN" sz="1200" dirty="0"/>
              <a:t>convergence</a:t>
            </a:r>
          </a:p>
          <a:p>
            <a:pPr marL="171450" indent="-171450">
              <a:lnSpc>
                <a:spcPts val="2400"/>
              </a:lnSpc>
              <a:buFontTx/>
              <a:buChar char="-"/>
            </a:pPr>
            <a:r>
              <a:rPr lang="en-US" altLang="zh-CN" sz="1200" dirty="0"/>
              <a:t>Validation</a:t>
            </a:r>
            <a:r>
              <a:rPr lang="zh-CN" altLang="en-US" sz="1200" dirty="0"/>
              <a:t> </a:t>
            </a:r>
            <a:r>
              <a:rPr lang="en-US" altLang="zh-CN" sz="1200" dirty="0"/>
              <a:t>closely</a:t>
            </a:r>
            <a:r>
              <a:rPr lang="zh-CN" altLang="en-US" sz="1200" dirty="0"/>
              <a:t> </a:t>
            </a:r>
            <a:r>
              <a:rPr lang="en-US" altLang="zh-CN" sz="1200" dirty="0"/>
              <a:t>follows</a:t>
            </a:r>
            <a:r>
              <a:rPr lang="zh-CN" altLang="en-US" sz="1200" dirty="0"/>
              <a:t> </a:t>
            </a:r>
            <a:r>
              <a:rPr lang="en-US" altLang="zh-CN" sz="1200" dirty="0"/>
              <a:t>the</a:t>
            </a:r>
            <a:r>
              <a:rPr lang="zh-CN" altLang="en-US" sz="1200" dirty="0"/>
              <a:t> </a:t>
            </a:r>
            <a:r>
              <a:rPr lang="en-US" altLang="zh-CN" sz="1200" dirty="0"/>
              <a:t>training</a:t>
            </a:r>
            <a:r>
              <a:rPr lang="zh-CN" altLang="en-US" sz="1200" dirty="0"/>
              <a:t> </a:t>
            </a:r>
            <a:r>
              <a:rPr lang="en-US" altLang="zh-CN" sz="1200" dirty="0"/>
              <a:t>perplexity,</a:t>
            </a:r>
            <a:r>
              <a:rPr lang="zh-CN" altLang="en-US" sz="1200" dirty="0"/>
              <a:t> </a:t>
            </a:r>
            <a:r>
              <a:rPr lang="en-US" altLang="zh-CN" sz="1200" dirty="0"/>
              <a:t>indicating</a:t>
            </a:r>
            <a:r>
              <a:rPr lang="zh-CN" altLang="en-US" sz="1200" dirty="0"/>
              <a:t> </a:t>
            </a:r>
            <a:r>
              <a:rPr lang="en-US" altLang="zh-CN" sz="1200" dirty="0"/>
              <a:t>no</a:t>
            </a:r>
            <a:r>
              <a:rPr lang="zh-CN" altLang="en-US" sz="1200" dirty="0"/>
              <a:t> </a:t>
            </a:r>
            <a:r>
              <a:rPr lang="en-US" altLang="zh-CN" sz="1200" dirty="0"/>
              <a:t>severe</a:t>
            </a:r>
            <a:r>
              <a:rPr lang="zh-CN" altLang="en-US" sz="1200" dirty="0"/>
              <a:t> </a:t>
            </a:r>
            <a:r>
              <a:rPr lang="en-US" altLang="zh-CN" sz="1200" dirty="0"/>
              <a:t>overfitting</a:t>
            </a:r>
          </a:p>
          <a:p>
            <a:pPr>
              <a:lnSpc>
                <a:spcPts val="24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55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287676" y="18138"/>
            <a:ext cx="8542404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Seq2Seq Explanation – Best model </a:t>
            </a:r>
            <a:endParaRPr lang="en-US" sz="2000" b="1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344160" y="656862"/>
            <a:ext cx="7277400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en-US" sz="12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1EC35DB9-9351-15F0-50E5-662FA355DF63}"/>
              </a:ext>
            </a:extLst>
          </p:cNvPr>
          <p:cNvSpPr/>
          <p:nvPr/>
        </p:nvSpPr>
        <p:spPr>
          <a:xfrm>
            <a:off x="344159" y="502752"/>
            <a:ext cx="7679957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Explain </a:t>
            </a:r>
            <a:r>
              <a:rPr lang="en-US" sz="1200" spc="-1" dirty="0">
                <a:solidFill>
                  <a:srgbClr val="595959"/>
                </a:solidFill>
                <a:latin typeface="Arial"/>
                <a:ea typeface="Arial"/>
              </a:rPr>
              <a:t>the details of your best model. Explain what you did to improve your model’s performance and why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82E2E-0FA1-9893-EA8D-403EB0967023}"/>
              </a:ext>
            </a:extLst>
          </p:cNvPr>
          <p:cNvSpPr txBox="1"/>
          <p:nvPr/>
        </p:nvSpPr>
        <p:spPr>
          <a:xfrm>
            <a:off x="344159" y="983484"/>
            <a:ext cx="8024117" cy="3761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dirty="0"/>
              <a:t>Best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details:</a:t>
            </a:r>
            <a:r>
              <a:rPr lang="zh-CN" altLang="en-US" dirty="0"/>
              <a:t> </a:t>
            </a:r>
            <a:endParaRPr lang="en-US" altLang="zh-CN" dirty="0"/>
          </a:p>
          <a:p>
            <a:pPr marL="285750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Uses</a:t>
            </a:r>
            <a:r>
              <a:rPr lang="zh-CN" altLang="en-US" dirty="0"/>
              <a:t> </a:t>
            </a:r>
            <a:r>
              <a:rPr lang="en-US" altLang="zh-CN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focus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relevant</a:t>
            </a:r>
            <a:r>
              <a:rPr lang="zh-CN" altLang="en-US" dirty="0"/>
              <a:t> </a:t>
            </a:r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tokens.</a:t>
            </a:r>
          </a:p>
          <a:p>
            <a:pPr marL="285750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Improvement</a:t>
            </a:r>
            <a:r>
              <a:rPr lang="zh-CN" altLang="en-US" dirty="0"/>
              <a:t> </a:t>
            </a:r>
            <a:r>
              <a:rPr lang="en-US" altLang="zh-CN" dirty="0"/>
              <a:t>done:</a:t>
            </a:r>
          </a:p>
          <a:p>
            <a:pPr marL="742950" lvl="1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Added</a:t>
            </a:r>
            <a:r>
              <a:rPr lang="zh-CN" altLang="en-US" dirty="0"/>
              <a:t> </a:t>
            </a:r>
            <a:r>
              <a:rPr lang="en-US" altLang="zh-CN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</a:p>
          <a:p>
            <a:pPr marL="742950" lvl="1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Tuned</a:t>
            </a:r>
            <a:r>
              <a:rPr lang="zh-CN" altLang="en-US" dirty="0"/>
              <a:t> </a:t>
            </a:r>
            <a:r>
              <a:rPr lang="en-US" altLang="zh-CN" dirty="0"/>
              <a:t>hidden</a:t>
            </a:r>
            <a:r>
              <a:rPr lang="zh-CN" altLang="en-US" dirty="0"/>
              <a:t> </a:t>
            </a:r>
            <a:r>
              <a:rPr lang="en-US" altLang="zh-CN" dirty="0"/>
              <a:t>size,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embedding</a:t>
            </a:r>
            <a:r>
              <a:rPr lang="zh-CN" altLang="en-US" dirty="0"/>
              <a:t> </a:t>
            </a:r>
            <a:r>
              <a:rPr lang="en-US" altLang="zh-CN" dirty="0"/>
              <a:t>size,</a:t>
            </a:r>
            <a:r>
              <a:rPr lang="zh-CN" altLang="en-US" dirty="0"/>
              <a:t> </a:t>
            </a:r>
            <a:r>
              <a:rPr lang="en-US" altLang="zh-CN" dirty="0"/>
              <a:t>did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lr</a:t>
            </a:r>
            <a:endParaRPr lang="en-US" altLang="zh-CN" dirty="0"/>
          </a:p>
          <a:p>
            <a:pPr marL="742950" lvl="1" indent="-285750">
              <a:lnSpc>
                <a:spcPts val="2400"/>
              </a:lnSpc>
              <a:buFontTx/>
              <a:buChar char="-"/>
            </a:pPr>
            <a:endParaRPr lang="en-US" altLang="zh-CN" dirty="0"/>
          </a:p>
          <a:p>
            <a:pPr>
              <a:lnSpc>
                <a:spcPts val="2400"/>
              </a:lnSpc>
            </a:pPr>
            <a:r>
              <a:rPr lang="en-US" altLang="zh-CN" dirty="0"/>
              <a:t>Reasoning:</a:t>
            </a:r>
          </a:p>
          <a:p>
            <a:pPr marL="285750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allows</a:t>
            </a:r>
            <a:r>
              <a:rPr lang="zh-CN" altLang="en-US" dirty="0"/>
              <a:t> </a:t>
            </a:r>
            <a:r>
              <a:rPr lang="en-US" altLang="zh-CN" dirty="0"/>
              <a:t>dynamic</a:t>
            </a:r>
            <a:r>
              <a:rPr lang="zh-CN" altLang="en-US" dirty="0"/>
              <a:t> </a:t>
            </a:r>
            <a:r>
              <a:rPr lang="en-US" altLang="zh-CN" dirty="0"/>
              <a:t>weighting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tern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relevance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r>
              <a:rPr lang="zh-CN" altLang="en-US" dirty="0"/>
              <a:t> </a:t>
            </a:r>
            <a:r>
              <a:rPr lang="en-US" altLang="zh-CN" dirty="0"/>
              <a:t>resource,</a:t>
            </a:r>
            <a:r>
              <a:rPr lang="zh-CN" altLang="en-US" dirty="0"/>
              <a:t> </a:t>
            </a:r>
            <a:r>
              <a:rPr lang="en-US" altLang="zh-CN" dirty="0"/>
              <a:t>improving</a:t>
            </a:r>
            <a:r>
              <a:rPr lang="zh-CN" altLang="en-US" dirty="0"/>
              <a:t> </a:t>
            </a:r>
            <a:r>
              <a:rPr lang="en-US" altLang="zh-CN" dirty="0"/>
              <a:t>prediction</a:t>
            </a:r>
            <a:r>
              <a:rPr lang="zh-CN" altLang="en-US" dirty="0"/>
              <a:t> </a:t>
            </a:r>
            <a:r>
              <a:rPr lang="en-US" altLang="zh-CN" dirty="0"/>
              <a:t>accuracy.</a:t>
            </a:r>
          </a:p>
          <a:p>
            <a:pPr marL="285750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Hyperparameters</a:t>
            </a:r>
            <a:r>
              <a:rPr lang="zh-CN" altLang="en-US" dirty="0"/>
              <a:t> </a:t>
            </a:r>
            <a:r>
              <a:rPr lang="en-US" altLang="zh-CN" dirty="0"/>
              <a:t>tuning</a:t>
            </a:r>
            <a:r>
              <a:rPr lang="zh-CN" altLang="en-US" dirty="0"/>
              <a:t> </a:t>
            </a:r>
            <a:r>
              <a:rPr lang="en-US" altLang="zh-CN" dirty="0"/>
              <a:t>ensure</a:t>
            </a:r>
            <a:r>
              <a:rPr lang="zh-CN" altLang="en-US" dirty="0"/>
              <a:t> </a:t>
            </a:r>
            <a:r>
              <a:rPr lang="en-US" altLang="zh-CN" dirty="0"/>
              <a:t>stable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prevent</a:t>
            </a:r>
            <a:r>
              <a:rPr lang="zh-CN" altLang="en-US" dirty="0"/>
              <a:t> </a:t>
            </a:r>
            <a:r>
              <a:rPr lang="en-US" altLang="zh-CN" dirty="0"/>
              <a:t>overfitting/underfitting.</a:t>
            </a:r>
          </a:p>
          <a:p>
            <a:pPr marL="742950" lvl="1" indent="-285750">
              <a:lnSpc>
                <a:spcPts val="2400"/>
              </a:lnSpc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32889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05D9B4-1C28-C8EC-3767-05D81AD0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94"/>
            <a:ext cx="8229240" cy="858600"/>
          </a:xfrm>
        </p:spPr>
        <p:txBody>
          <a:bodyPr/>
          <a:lstStyle/>
          <a:p>
            <a:r>
              <a:rPr lang="en-US" sz="2000" b="1" dirty="0">
                <a:solidFill>
                  <a:schemeClr val="accent1"/>
                </a:solidFill>
              </a:rPr>
              <a:t>Transformer Results</a:t>
            </a:r>
            <a:br>
              <a:rPr lang="en-US" sz="2000" b="1" dirty="0">
                <a:solidFill>
                  <a:schemeClr val="accent1"/>
                </a:solidFill>
              </a:rPr>
            </a:br>
            <a:r>
              <a:rPr lang="en-US" sz="1600" b="1" dirty="0">
                <a:solidFill>
                  <a:schemeClr val="accent1"/>
                </a:solidFill>
              </a:rPr>
              <a:t>Values are for last epoch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27EA207-EC35-E972-48D2-09A65F042B85}"/>
              </a:ext>
            </a:extLst>
          </p:cNvPr>
          <p:cNvGrpSpPr/>
          <p:nvPr/>
        </p:nvGrpSpPr>
        <p:grpSpPr>
          <a:xfrm>
            <a:off x="380144" y="704456"/>
            <a:ext cx="7575480" cy="1914627"/>
            <a:chOff x="390418" y="1036280"/>
            <a:chExt cx="7575480" cy="191462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7B8C98F-AEAC-8BC0-8E13-1C59FE48BF95}"/>
                </a:ext>
              </a:extLst>
            </p:cNvPr>
            <p:cNvSpPr txBox="1"/>
            <p:nvPr/>
          </p:nvSpPr>
          <p:spPr>
            <a:xfrm>
              <a:off x="390418" y="1036280"/>
              <a:ext cx="3056563" cy="1914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dirty="0">
                  <a:solidFill>
                    <a:srgbClr val="0070C0"/>
                  </a:solidFill>
                </a:rPr>
                <a:t>Default configuration (Encoder Only)</a:t>
              </a:r>
            </a:p>
            <a:p>
              <a:pPr>
                <a:lnSpc>
                  <a:spcPts val="2400"/>
                </a:lnSpc>
              </a:pPr>
              <a:r>
                <a:rPr lang="en-US" dirty="0"/>
                <a:t>Training Loss: </a:t>
              </a:r>
              <a:r>
                <a:rPr lang="en-US" altLang="zh-CN" dirty="0"/>
                <a:t>2.17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Training Perplexity:</a:t>
              </a:r>
              <a:r>
                <a:rPr lang="zh-CN" altLang="en-US" dirty="0"/>
                <a:t> </a:t>
              </a:r>
              <a:r>
                <a:rPr lang="en-US" altLang="zh-CN" dirty="0"/>
                <a:t>8.73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Loss: </a:t>
              </a:r>
              <a:r>
                <a:rPr lang="en-US" altLang="zh-CN" dirty="0"/>
                <a:t>3.09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Perplexity: </a:t>
              </a:r>
              <a:r>
                <a:rPr lang="en-US" altLang="zh-CN" dirty="0"/>
                <a:t>21.89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8C824F-5283-60BB-A126-AC1CA44235B2}"/>
                </a:ext>
              </a:extLst>
            </p:cNvPr>
            <p:cNvSpPr txBox="1"/>
            <p:nvPr/>
          </p:nvSpPr>
          <p:spPr>
            <a:xfrm>
              <a:off x="4893925" y="1036280"/>
              <a:ext cx="3071973" cy="1914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dirty="0">
                  <a:solidFill>
                    <a:srgbClr val="0070C0"/>
                  </a:solidFill>
                </a:rPr>
                <a:t>Default configuration (full transformer)</a:t>
              </a:r>
            </a:p>
            <a:p>
              <a:pPr>
                <a:lnSpc>
                  <a:spcPts val="2400"/>
                </a:lnSpc>
              </a:pPr>
              <a:r>
                <a:rPr lang="en-US" dirty="0"/>
                <a:t>Training Loss: </a:t>
              </a:r>
              <a:r>
                <a:rPr lang="en-US" altLang="zh-CN" dirty="0"/>
                <a:t>1.49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Training Perplexity: </a:t>
              </a:r>
              <a:r>
                <a:rPr lang="en-US" altLang="zh-CN" dirty="0"/>
                <a:t>4.46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Loss: </a:t>
              </a:r>
              <a:r>
                <a:rPr lang="en-US" altLang="zh-CN" dirty="0"/>
                <a:t>1.85</a:t>
              </a:r>
              <a:endParaRPr lang="en-US" dirty="0"/>
            </a:p>
            <a:p>
              <a:pPr>
                <a:lnSpc>
                  <a:spcPts val="2400"/>
                </a:lnSpc>
              </a:pPr>
              <a:r>
                <a:rPr lang="en-US" dirty="0"/>
                <a:t>Validation Perplexity: </a:t>
              </a:r>
              <a:r>
                <a:rPr lang="en-US" altLang="zh-CN" dirty="0"/>
                <a:t>6.37</a:t>
              </a:r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10EA7B6-5A37-7E10-27AF-AA8FA3C5122E}"/>
              </a:ext>
            </a:extLst>
          </p:cNvPr>
          <p:cNvSpPr txBox="1"/>
          <p:nvPr/>
        </p:nvSpPr>
        <p:spPr>
          <a:xfrm>
            <a:off x="380144" y="3058578"/>
            <a:ext cx="8024117" cy="1606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endParaRPr lang="en-US" dirty="0"/>
          </a:p>
          <a:p>
            <a:pPr>
              <a:lnSpc>
                <a:spcPts val="2400"/>
              </a:lnSpc>
            </a:pPr>
            <a:endParaRPr lang="en-US" dirty="0"/>
          </a:p>
          <a:p>
            <a:pPr>
              <a:lnSpc>
                <a:spcPts val="2400"/>
              </a:lnSpc>
            </a:pPr>
            <a:endParaRPr lang="en-US" dirty="0"/>
          </a:p>
          <a:p>
            <a:pPr>
              <a:lnSpc>
                <a:spcPts val="2400"/>
              </a:lnSpc>
            </a:pPr>
            <a:endParaRPr lang="en-US" dirty="0"/>
          </a:p>
          <a:p>
            <a:pPr>
              <a:lnSpc>
                <a:spcPts val="2400"/>
              </a:lnSpc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92D9A-40A2-9F9E-C4DC-586AD8A06315}"/>
              </a:ext>
            </a:extLst>
          </p:cNvPr>
          <p:cNvSpPr txBox="1"/>
          <p:nvPr/>
        </p:nvSpPr>
        <p:spPr>
          <a:xfrm>
            <a:off x="364734" y="2868715"/>
            <a:ext cx="3071973" cy="1914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dirty="0">
                <a:solidFill>
                  <a:srgbClr val="0070C0"/>
                </a:solidFill>
              </a:rPr>
              <a:t>Best model (full transformer)</a:t>
            </a:r>
          </a:p>
          <a:p>
            <a:pPr>
              <a:lnSpc>
                <a:spcPts val="2400"/>
              </a:lnSpc>
            </a:pPr>
            <a:r>
              <a:rPr lang="en-US" dirty="0"/>
              <a:t>Training Loss: </a:t>
            </a:r>
            <a:r>
              <a:rPr lang="en-US" altLang="zh-CN" dirty="0"/>
              <a:t>1.49</a:t>
            </a: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Training Perplexity: </a:t>
            </a:r>
            <a:r>
              <a:rPr lang="en-US" altLang="zh-CN" dirty="0"/>
              <a:t>4.46</a:t>
            </a: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Validation Loss: </a:t>
            </a:r>
            <a:r>
              <a:rPr lang="en-US" altLang="zh-CN" dirty="0"/>
              <a:t>1.85</a:t>
            </a:r>
            <a:endParaRPr lang="en-US" dirty="0"/>
          </a:p>
          <a:p>
            <a:pPr>
              <a:lnSpc>
                <a:spcPts val="2400"/>
              </a:lnSpc>
            </a:pPr>
            <a:r>
              <a:rPr lang="en-US" dirty="0"/>
              <a:t>Validation Perplexity: </a:t>
            </a:r>
            <a:r>
              <a:rPr lang="en-US" altLang="zh-CN" dirty="0"/>
              <a:t>6.37</a:t>
            </a:r>
            <a:endParaRPr lang="en-US" dirty="0"/>
          </a:p>
          <a:p>
            <a:pPr>
              <a:lnSpc>
                <a:spcPts val="2400"/>
              </a:lnSpc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D747A-929A-C3F7-3080-EE2CF43C7282}"/>
              </a:ext>
            </a:extLst>
          </p:cNvPr>
          <p:cNvSpPr txBox="1"/>
          <p:nvPr/>
        </p:nvSpPr>
        <p:spPr>
          <a:xfrm>
            <a:off x="4827143" y="2675077"/>
            <a:ext cx="4316857" cy="3576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rgbClr val="0070C0"/>
                </a:solidFill>
              </a:rPr>
              <a:t>List your best model hyper-parameter values (full transformer): ?</a:t>
            </a:r>
          </a:p>
          <a:p>
            <a:pPr>
              <a:buNone/>
            </a:pPr>
            <a:r>
              <a:rPr lang="en-US" dirty="0"/>
              <a:t>Hidden size: </a:t>
            </a:r>
            <a:r>
              <a:rPr lang="en-US" altLang="zh-CN" dirty="0"/>
              <a:t>128</a:t>
            </a:r>
            <a:endParaRPr lang="en-US" dirty="0"/>
          </a:p>
          <a:p>
            <a:pPr>
              <a:buNone/>
            </a:pPr>
            <a:r>
              <a:rPr lang="en-US" dirty="0"/>
              <a:t>Embedding size: </a:t>
            </a:r>
            <a:r>
              <a:rPr lang="en-US" altLang="zh-CN" dirty="0"/>
              <a:t>128</a:t>
            </a:r>
            <a:endParaRPr lang="en-US" dirty="0"/>
          </a:p>
          <a:p>
            <a:pPr>
              <a:buNone/>
            </a:pPr>
            <a:r>
              <a:rPr lang="en-US" dirty="0"/>
              <a:t>Number of attention heads: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heads</a:t>
            </a:r>
            <a:endParaRPr lang="en-US" dirty="0"/>
          </a:p>
          <a:p>
            <a:pPr>
              <a:buNone/>
            </a:pPr>
            <a:r>
              <a:rPr lang="en-US" dirty="0"/>
              <a:t>Feedforward hidden size: </a:t>
            </a:r>
            <a:r>
              <a:rPr lang="en-US" altLang="zh-CN" dirty="0"/>
              <a:t>2048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Optimizer / learning rate: </a:t>
            </a:r>
            <a:r>
              <a:rPr lang="en-US" altLang="zh-CN" dirty="0"/>
              <a:t>Adam</a:t>
            </a:r>
            <a:r>
              <a:rPr lang="zh-CN" altLang="en-US" dirty="0"/>
              <a:t> </a:t>
            </a:r>
            <a:r>
              <a:rPr lang="en-US" altLang="zh-CN" dirty="0"/>
              <a:t>1e-3</a:t>
            </a:r>
            <a:endParaRPr lang="en-US" dirty="0"/>
          </a:p>
          <a:p>
            <a:r>
              <a:rPr lang="en-US" dirty="0"/>
              <a:t>Dropout: </a:t>
            </a:r>
            <a:r>
              <a:rPr lang="en-US" altLang="zh-CN" dirty="0"/>
              <a:t>0.2</a:t>
            </a:r>
            <a:endParaRPr lang="en-US" dirty="0"/>
          </a:p>
          <a:p>
            <a:pPr>
              <a:lnSpc>
                <a:spcPts val="2400"/>
              </a:lnSpc>
            </a:pP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ts val="2400"/>
              </a:lnSpc>
            </a:pP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ts val="2400"/>
              </a:lnSpc>
            </a:pP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1288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05D9B4-1C28-C8EC-3767-05D81AD0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94"/>
            <a:ext cx="8229240" cy="858600"/>
          </a:xfrm>
        </p:spPr>
        <p:txBody>
          <a:bodyPr/>
          <a:lstStyle/>
          <a:p>
            <a:r>
              <a:rPr lang="en-US" sz="2000" b="1" dirty="0">
                <a:solidFill>
                  <a:schemeClr val="accent1"/>
                </a:solidFill>
              </a:rPr>
              <a:t>Full Transformer Best model Learning Curves (Perplexity)</a:t>
            </a:r>
          </a:p>
        </p:txBody>
      </p:sp>
      <p:pic>
        <p:nvPicPr>
          <p:cNvPr id="6" name="Picture 5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C6D7B4CE-A7D4-5373-905D-E45FD420E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24" y="1032734"/>
            <a:ext cx="4365853" cy="35190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F62658-CC74-4076-255F-0638827A7841}"/>
              </a:ext>
            </a:extLst>
          </p:cNvPr>
          <p:cNvSpPr txBox="1"/>
          <p:nvPr/>
        </p:nvSpPr>
        <p:spPr>
          <a:xfrm>
            <a:off x="5335793" y="1535975"/>
            <a:ext cx="3614571" cy="2512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altLang="zh-CN" sz="1200" dirty="0">
                <a:solidFill>
                  <a:srgbClr val="0070C0"/>
                </a:solidFill>
              </a:rPr>
              <a:t>Describe</a:t>
            </a:r>
            <a:r>
              <a:rPr lang="zh-CN" altLang="en-US" sz="1200" dirty="0">
                <a:solidFill>
                  <a:srgbClr val="0070C0"/>
                </a:solidFill>
              </a:rPr>
              <a:t> </a:t>
            </a:r>
            <a:r>
              <a:rPr lang="en-US" altLang="zh-CN" sz="1200" dirty="0">
                <a:solidFill>
                  <a:srgbClr val="0070C0"/>
                </a:solidFill>
              </a:rPr>
              <a:t>in</a:t>
            </a:r>
            <a:r>
              <a:rPr lang="zh-CN" altLang="en-US" sz="1200" dirty="0">
                <a:solidFill>
                  <a:srgbClr val="0070C0"/>
                </a:solidFill>
              </a:rPr>
              <a:t> </a:t>
            </a:r>
            <a:r>
              <a:rPr lang="en-US" altLang="zh-CN" sz="1200" dirty="0">
                <a:solidFill>
                  <a:srgbClr val="0070C0"/>
                </a:solidFill>
              </a:rPr>
              <a:t>text:</a:t>
            </a:r>
            <a:endParaRPr lang="en-US" sz="1200" dirty="0">
              <a:solidFill>
                <a:srgbClr val="0070C0"/>
              </a:solidFill>
            </a:endParaRPr>
          </a:p>
          <a:p>
            <a:pPr>
              <a:lnSpc>
                <a:spcPts val="2400"/>
              </a:lnSpc>
            </a:pPr>
            <a:r>
              <a:rPr lang="en-US" altLang="zh-CN" sz="1200" dirty="0"/>
              <a:t>-</a:t>
            </a:r>
            <a:r>
              <a:rPr lang="zh-CN" altLang="en-US" sz="1200" dirty="0"/>
              <a:t> </a:t>
            </a:r>
            <a:r>
              <a:rPr lang="en-US" altLang="zh-CN" sz="1200" dirty="0"/>
              <a:t>The</a:t>
            </a:r>
            <a:r>
              <a:rPr lang="zh-CN" altLang="en-US" sz="1200" dirty="0"/>
              <a:t> </a:t>
            </a:r>
            <a:r>
              <a:rPr lang="en-US" sz="1200" dirty="0"/>
              <a:t>Perplexity</a:t>
            </a:r>
            <a:r>
              <a:rPr lang="zh-CN" altLang="en-US" sz="1200" dirty="0"/>
              <a:t> </a:t>
            </a:r>
            <a:r>
              <a:rPr lang="en-US" altLang="zh-CN" sz="1200" dirty="0"/>
              <a:t>drops</a:t>
            </a:r>
            <a:r>
              <a:rPr lang="zh-CN" altLang="en-US" sz="1200" dirty="0"/>
              <a:t> </a:t>
            </a:r>
            <a:r>
              <a:rPr lang="en-US" altLang="zh-CN" sz="1200" dirty="0"/>
              <a:t>fast</a:t>
            </a:r>
            <a:r>
              <a:rPr lang="zh-CN" altLang="en-US" sz="1200" dirty="0"/>
              <a:t> </a:t>
            </a:r>
            <a:r>
              <a:rPr lang="en-US" altLang="zh-CN" sz="1200" dirty="0"/>
              <a:t>in</a:t>
            </a:r>
            <a:r>
              <a:rPr lang="zh-CN" altLang="en-US" sz="1200" dirty="0"/>
              <a:t> </a:t>
            </a:r>
            <a:r>
              <a:rPr lang="en-US" altLang="zh-CN" sz="1200" dirty="0"/>
              <a:t>early</a:t>
            </a:r>
            <a:r>
              <a:rPr lang="zh-CN" altLang="en-US" sz="1200" dirty="0"/>
              <a:t> </a:t>
            </a:r>
            <a:r>
              <a:rPr lang="en-US" altLang="zh-CN" sz="1200" dirty="0"/>
              <a:t>epochs,</a:t>
            </a:r>
            <a:r>
              <a:rPr lang="zh-CN" altLang="en-US" sz="1200" dirty="0"/>
              <a:t> </a:t>
            </a:r>
            <a:r>
              <a:rPr lang="en-US" altLang="zh-CN" sz="1200" dirty="0"/>
              <a:t>and</a:t>
            </a:r>
            <a:r>
              <a:rPr lang="zh-CN" altLang="en-US" sz="1200" dirty="0"/>
              <a:t> </a:t>
            </a:r>
            <a:r>
              <a:rPr lang="en-US" altLang="zh-CN" sz="1200" dirty="0"/>
              <a:t>then</a:t>
            </a:r>
            <a:r>
              <a:rPr lang="zh-CN" altLang="en-US" sz="1200" dirty="0"/>
              <a:t> </a:t>
            </a:r>
            <a:r>
              <a:rPr lang="en-US" altLang="zh-CN" sz="1200" dirty="0"/>
              <a:t>slowly</a:t>
            </a:r>
            <a:r>
              <a:rPr lang="zh-CN" altLang="en-US" sz="1200" dirty="0"/>
              <a:t> </a:t>
            </a:r>
            <a:r>
              <a:rPr lang="en-US" altLang="zh-CN" sz="1200" dirty="0"/>
              <a:t>converge</a:t>
            </a:r>
          </a:p>
          <a:p>
            <a:pPr marL="171450" indent="-171450">
              <a:lnSpc>
                <a:spcPts val="2400"/>
              </a:lnSpc>
              <a:buFontTx/>
              <a:buChar char="-"/>
            </a:pPr>
            <a:r>
              <a:rPr lang="en-US" altLang="zh-CN" sz="1200" dirty="0"/>
              <a:t>Train</a:t>
            </a:r>
            <a:r>
              <a:rPr lang="zh-CN" altLang="en-US" sz="1200" dirty="0"/>
              <a:t> </a:t>
            </a:r>
            <a:r>
              <a:rPr lang="en-US" altLang="zh-CN" sz="1200" dirty="0"/>
              <a:t>&amp;&amp;</a:t>
            </a:r>
            <a:r>
              <a:rPr lang="zh-CN" altLang="en-US" sz="1200" dirty="0"/>
              <a:t> </a:t>
            </a:r>
            <a:r>
              <a:rPr lang="en-US" altLang="zh-CN" sz="1200" dirty="0"/>
              <a:t>valid</a:t>
            </a:r>
            <a:r>
              <a:rPr lang="zh-CN" altLang="en-US" sz="1200" dirty="0"/>
              <a:t> </a:t>
            </a:r>
            <a:r>
              <a:rPr lang="en-US" altLang="zh-CN" sz="1200" dirty="0"/>
              <a:t>curves</a:t>
            </a:r>
            <a:r>
              <a:rPr lang="zh-CN" altLang="en-US" sz="1200" dirty="0"/>
              <a:t> </a:t>
            </a:r>
            <a:r>
              <a:rPr lang="en-US" altLang="zh-CN" sz="1200" dirty="0"/>
              <a:t>are</a:t>
            </a:r>
            <a:r>
              <a:rPr lang="zh-CN" altLang="en-US" sz="1200" dirty="0"/>
              <a:t> </a:t>
            </a:r>
            <a:r>
              <a:rPr lang="en-US" altLang="zh-CN" sz="1200" dirty="0"/>
              <a:t>very</a:t>
            </a:r>
            <a:r>
              <a:rPr lang="zh-CN" altLang="en-US" sz="1200" dirty="0"/>
              <a:t> </a:t>
            </a:r>
            <a:r>
              <a:rPr lang="en-US" altLang="zh-CN" sz="1200" dirty="0"/>
              <a:t>close,</a:t>
            </a:r>
            <a:r>
              <a:rPr lang="zh-CN" altLang="en-US" sz="1200" dirty="0"/>
              <a:t> </a:t>
            </a:r>
            <a:r>
              <a:rPr lang="en-US" altLang="zh-CN" sz="1200" dirty="0"/>
              <a:t>indicating</a:t>
            </a:r>
            <a:r>
              <a:rPr lang="zh-CN" altLang="en-US" sz="1200" dirty="0"/>
              <a:t> </a:t>
            </a:r>
            <a:r>
              <a:rPr lang="en-US" altLang="zh-CN" sz="1200" dirty="0"/>
              <a:t>minimal</a:t>
            </a:r>
            <a:r>
              <a:rPr lang="zh-CN" altLang="en-US" sz="1200" dirty="0"/>
              <a:t> </a:t>
            </a:r>
            <a:r>
              <a:rPr lang="en-US" altLang="zh-CN" sz="1200" dirty="0"/>
              <a:t>overfitting</a:t>
            </a:r>
          </a:p>
          <a:p>
            <a:pPr marL="171450" indent="-171450">
              <a:lnSpc>
                <a:spcPts val="2400"/>
              </a:lnSpc>
              <a:buFontTx/>
              <a:buChar char="-"/>
            </a:pPr>
            <a:r>
              <a:rPr lang="en-US" altLang="zh-CN" sz="1200" dirty="0"/>
              <a:t>Full</a:t>
            </a:r>
            <a:r>
              <a:rPr lang="zh-CN" altLang="en-US" sz="1200" dirty="0"/>
              <a:t> </a:t>
            </a:r>
            <a:r>
              <a:rPr lang="en-US" altLang="zh-CN" sz="1200" dirty="0"/>
              <a:t>transfer</a:t>
            </a:r>
            <a:r>
              <a:rPr lang="zh-CN" altLang="en-US" sz="1200" dirty="0"/>
              <a:t> </a:t>
            </a:r>
            <a:r>
              <a:rPr lang="en-US" altLang="zh-CN" sz="1200" dirty="0"/>
              <a:t>converge</a:t>
            </a:r>
            <a:r>
              <a:rPr lang="zh-CN" altLang="en-US" sz="1200" dirty="0"/>
              <a:t> </a:t>
            </a:r>
            <a:r>
              <a:rPr lang="en-US" altLang="zh-CN" sz="1200" dirty="0"/>
              <a:t>faster</a:t>
            </a:r>
            <a:r>
              <a:rPr lang="zh-CN" altLang="en-US" sz="1200" dirty="0"/>
              <a:t> </a:t>
            </a:r>
            <a:r>
              <a:rPr lang="en-US" altLang="zh-CN" sz="1200" dirty="0"/>
              <a:t>than</a:t>
            </a:r>
            <a:r>
              <a:rPr lang="zh-CN" altLang="en-US" sz="1200" dirty="0"/>
              <a:t> </a:t>
            </a:r>
            <a:r>
              <a:rPr lang="en-US" altLang="zh-CN" sz="1200" dirty="0"/>
              <a:t>seq2seq</a:t>
            </a:r>
            <a:r>
              <a:rPr lang="zh-CN" altLang="en-US" sz="1200" dirty="0"/>
              <a:t> </a:t>
            </a:r>
            <a:r>
              <a:rPr lang="en-US" altLang="zh-CN" sz="1200" dirty="0"/>
              <a:t>RNN</a:t>
            </a:r>
            <a:r>
              <a:rPr lang="zh-CN" altLang="en-US" sz="1200" dirty="0"/>
              <a:t> </a:t>
            </a:r>
            <a:r>
              <a:rPr lang="en-US" altLang="zh-CN" sz="1200" dirty="0"/>
              <a:t>or</a:t>
            </a:r>
            <a:r>
              <a:rPr lang="zh-CN" altLang="en-US" sz="1200" dirty="0"/>
              <a:t> </a:t>
            </a:r>
            <a:r>
              <a:rPr lang="en-US" altLang="zh-CN" sz="1200" dirty="0"/>
              <a:t>LSTM</a:t>
            </a:r>
          </a:p>
          <a:p>
            <a:pPr>
              <a:lnSpc>
                <a:spcPts val="24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4629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12120" y="48960"/>
            <a:ext cx="8517960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Full Transformer Explanation – Best model </a:t>
            </a:r>
            <a:endParaRPr lang="en-US" sz="2000" b="1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287677" y="471930"/>
            <a:ext cx="8147406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Explain what you did here and why you did it to improve your model performance.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9F7C66-D857-6EB6-9DEE-7512BA0E0FFA}"/>
              </a:ext>
            </a:extLst>
          </p:cNvPr>
          <p:cNvSpPr txBox="1"/>
          <p:nvPr/>
        </p:nvSpPr>
        <p:spPr>
          <a:xfrm>
            <a:off x="344159" y="983484"/>
            <a:ext cx="8485921" cy="4068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dirty="0"/>
              <a:t>Best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details:</a:t>
            </a:r>
            <a:r>
              <a:rPr lang="zh-CN" altLang="en-US" dirty="0"/>
              <a:t> </a:t>
            </a:r>
            <a:endParaRPr lang="en-US" altLang="zh-CN" dirty="0"/>
          </a:p>
          <a:p>
            <a:pPr marL="285750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Full</a:t>
            </a:r>
            <a:r>
              <a:rPr lang="zh-CN" altLang="en-US" dirty="0"/>
              <a:t> </a:t>
            </a:r>
            <a:r>
              <a:rPr lang="en-US" altLang="zh-CN" dirty="0"/>
              <a:t>transformer</a:t>
            </a:r>
            <a:r>
              <a:rPr lang="zh-CN" altLang="en-US" dirty="0"/>
              <a:t> </a:t>
            </a:r>
            <a:r>
              <a:rPr lang="en-US" altLang="zh-CN" dirty="0"/>
              <a:t>combo:</a:t>
            </a:r>
            <a:r>
              <a:rPr lang="zh-CN" altLang="en-US" dirty="0"/>
              <a:t> </a:t>
            </a:r>
            <a:r>
              <a:rPr lang="en-US" altLang="zh-CN" dirty="0"/>
              <a:t>encoder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decoder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multi-heads</a:t>
            </a:r>
            <a:r>
              <a:rPr lang="zh-CN" altLang="en-US" dirty="0"/>
              <a:t> </a:t>
            </a:r>
            <a:r>
              <a:rPr lang="en-US" altLang="zh-CN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gives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best</a:t>
            </a:r>
            <a:r>
              <a:rPr lang="zh-CN" altLang="en-US" dirty="0"/>
              <a:t> </a:t>
            </a:r>
            <a:r>
              <a:rPr lang="en-US" altLang="zh-CN" dirty="0"/>
              <a:t>performance</a:t>
            </a:r>
          </a:p>
          <a:p>
            <a:pPr marL="285750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Improvement</a:t>
            </a:r>
            <a:r>
              <a:rPr lang="zh-CN" altLang="en-US" dirty="0"/>
              <a:t> </a:t>
            </a:r>
            <a:r>
              <a:rPr lang="en-US" altLang="zh-CN" dirty="0"/>
              <a:t>done:</a:t>
            </a:r>
          </a:p>
          <a:p>
            <a:pPr marL="742950" lvl="1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Added</a:t>
            </a:r>
            <a:r>
              <a:rPr lang="zh-CN" altLang="en-US" dirty="0"/>
              <a:t> </a:t>
            </a:r>
            <a:r>
              <a:rPr lang="en-US" altLang="zh-CN" dirty="0"/>
              <a:t>positional</a:t>
            </a:r>
            <a:r>
              <a:rPr lang="zh-CN" altLang="en-US" dirty="0"/>
              <a:t> </a:t>
            </a:r>
            <a:r>
              <a:rPr lang="en-US" altLang="zh-CN" dirty="0"/>
              <a:t>encoding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sequential</a:t>
            </a:r>
            <a:r>
              <a:rPr lang="zh-CN" altLang="en-US" dirty="0"/>
              <a:t> </a:t>
            </a:r>
            <a:r>
              <a:rPr lang="en-US" altLang="zh-CN" dirty="0"/>
              <a:t>info</a:t>
            </a:r>
          </a:p>
          <a:p>
            <a:pPr marL="742950" lvl="1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Tuned</a:t>
            </a:r>
            <a:r>
              <a:rPr lang="zh-CN" altLang="en-US" dirty="0"/>
              <a:t> </a:t>
            </a:r>
            <a:r>
              <a:rPr lang="en-US" altLang="zh-CN" dirty="0"/>
              <a:t>hyperparameters:</a:t>
            </a:r>
            <a:r>
              <a:rPr lang="zh-CN" altLang="en-US" dirty="0"/>
              <a:t> </a:t>
            </a:r>
            <a:r>
              <a:rPr lang="en-US" altLang="zh-CN" dirty="0"/>
              <a:t>embedding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hidden</a:t>
            </a:r>
            <a:r>
              <a:rPr lang="zh-CN" altLang="en-US" dirty="0"/>
              <a:t> </a:t>
            </a:r>
            <a:r>
              <a:rPr lang="en-US" altLang="zh-CN" dirty="0"/>
              <a:t>sizes</a:t>
            </a:r>
          </a:p>
          <a:p>
            <a:pPr marL="742950" lvl="1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Used</a:t>
            </a:r>
            <a:r>
              <a:rPr lang="zh-CN" altLang="en-US" dirty="0"/>
              <a:t> </a:t>
            </a:r>
            <a:r>
              <a:rPr lang="en-US" altLang="zh-CN" dirty="0"/>
              <a:t>residual</a:t>
            </a:r>
            <a:r>
              <a:rPr lang="zh-CN" altLang="en-US" dirty="0"/>
              <a:t> </a:t>
            </a:r>
            <a:r>
              <a:rPr lang="en-US" altLang="zh-CN" dirty="0"/>
              <a:t>connections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layer</a:t>
            </a:r>
            <a:r>
              <a:rPr lang="zh-CN" altLang="en-US" dirty="0"/>
              <a:t> </a:t>
            </a:r>
            <a:r>
              <a:rPr lang="en-US" altLang="zh-CN" dirty="0"/>
              <a:t>normalization</a:t>
            </a:r>
          </a:p>
          <a:p>
            <a:pPr marL="742950" lvl="1" indent="-285750">
              <a:lnSpc>
                <a:spcPts val="2400"/>
              </a:lnSpc>
              <a:buFontTx/>
              <a:buChar char="-"/>
            </a:pPr>
            <a:endParaRPr lang="en-US" altLang="zh-CN" dirty="0"/>
          </a:p>
          <a:p>
            <a:pPr>
              <a:lnSpc>
                <a:spcPts val="2400"/>
              </a:lnSpc>
            </a:pPr>
            <a:r>
              <a:rPr lang="en-US" altLang="zh-CN" dirty="0"/>
              <a:t>Reasoning:</a:t>
            </a:r>
          </a:p>
          <a:p>
            <a:pPr marL="285750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allows</a:t>
            </a:r>
            <a:r>
              <a:rPr lang="zh-CN" altLang="en-US" dirty="0"/>
              <a:t> </a:t>
            </a:r>
            <a:r>
              <a:rPr lang="en-US" altLang="zh-CN" dirty="0"/>
              <a:t>global</a:t>
            </a:r>
            <a:r>
              <a:rPr lang="zh-CN" altLang="en-US" dirty="0"/>
              <a:t> </a:t>
            </a:r>
            <a:r>
              <a:rPr lang="en-US" altLang="zh-CN" dirty="0"/>
              <a:t>context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(not</a:t>
            </a:r>
            <a:r>
              <a:rPr lang="zh-CN" altLang="en-US" dirty="0"/>
              <a:t> </a:t>
            </a:r>
            <a:r>
              <a:rPr lang="en-US" altLang="zh-CN" dirty="0"/>
              <a:t>sequential</a:t>
            </a:r>
            <a:r>
              <a:rPr lang="zh-CN" altLang="en-US" dirty="0"/>
              <a:t> </a:t>
            </a:r>
            <a:r>
              <a:rPr lang="en-US" altLang="zh-CN" dirty="0"/>
              <a:t>like</a:t>
            </a:r>
            <a:r>
              <a:rPr lang="zh-CN" altLang="en-US" dirty="0"/>
              <a:t> </a:t>
            </a:r>
            <a:r>
              <a:rPr lang="en-US" altLang="zh-CN" dirty="0"/>
              <a:t>RNN)</a:t>
            </a:r>
          </a:p>
          <a:p>
            <a:pPr marL="285750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Multi-heads</a:t>
            </a:r>
            <a:r>
              <a:rPr lang="zh-CN" altLang="en-US" dirty="0"/>
              <a:t> </a:t>
            </a:r>
            <a:r>
              <a:rPr lang="en-US" altLang="zh-CN" dirty="0"/>
              <a:t>attention</a:t>
            </a:r>
            <a:r>
              <a:rPr lang="zh-CN" altLang="en-US" dirty="0"/>
              <a:t> </a:t>
            </a:r>
            <a:r>
              <a:rPr lang="en-US" altLang="zh-CN" dirty="0"/>
              <a:t>allows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representation</a:t>
            </a:r>
            <a:r>
              <a:rPr lang="zh-CN" altLang="en-US" dirty="0"/>
              <a:t> </a:t>
            </a:r>
            <a:r>
              <a:rPr lang="en-US" altLang="zh-CN" dirty="0"/>
              <a:t>subspaces</a:t>
            </a:r>
          </a:p>
          <a:p>
            <a:pPr marL="285750" indent="-285750">
              <a:lnSpc>
                <a:spcPts val="2400"/>
              </a:lnSpc>
              <a:buFontTx/>
              <a:buChar char="-"/>
            </a:pPr>
            <a:r>
              <a:rPr lang="en-US" altLang="zh-CN" dirty="0"/>
              <a:t>Residual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normalization</a:t>
            </a:r>
            <a:r>
              <a:rPr lang="zh-CN" altLang="en-US" dirty="0"/>
              <a:t> </a:t>
            </a:r>
            <a:r>
              <a:rPr lang="en-US" altLang="zh-CN"/>
              <a:t>stableizes</a:t>
            </a:r>
            <a:r>
              <a:rPr lang="zh-CN" altLang="en-US"/>
              <a:t> </a:t>
            </a:r>
            <a:r>
              <a:rPr lang="en-US" altLang="zh-CN" dirty="0"/>
              <a:t>training</a:t>
            </a:r>
          </a:p>
          <a:p>
            <a:pPr marL="742950" lvl="1" indent="-285750">
              <a:lnSpc>
                <a:spcPts val="2400"/>
              </a:lnSpc>
              <a:buFontTx/>
              <a:buChar char="-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Table 1"/>
          <p:cNvGraphicFramePr/>
          <p:nvPr>
            <p:extLst>
              <p:ext uri="{D42A27DB-BD31-4B8C-83A1-F6EECF244321}">
                <p14:modId xmlns:p14="http://schemas.microsoft.com/office/powerpoint/2010/main" val="2530799080"/>
              </p:ext>
            </p:extLst>
          </p:nvPr>
        </p:nvGraphicFramePr>
        <p:xfrm>
          <a:off x="0" y="752327"/>
          <a:ext cx="9144000" cy="4054920"/>
        </p:xfrm>
        <a:graphic>
          <a:graphicData uri="http://schemas.openxmlformats.org/drawingml/2006/table">
            <a:tbl>
              <a:tblPr/>
              <a:tblGrid>
                <a:gridCol w="457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latin typeface="Arial"/>
                        </a:rPr>
                        <a:t>True Translation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latin typeface="Arial"/>
                        </a:rPr>
                        <a:t>Predicted Translation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latin typeface="Arial"/>
                        </a:rPr>
                        <a:t>‘&lt;</a:t>
                      </a:r>
                      <a:r>
                        <a:rPr lang="en-US" sz="1100" b="0" strike="noStrike" spc="-1" dirty="0" err="1">
                          <a:latin typeface="Arial"/>
                        </a:rPr>
                        <a:t>sos</a:t>
                      </a:r>
                      <a:r>
                        <a:rPr lang="en-US" sz="1100" b="0" strike="noStrike" spc="-1" dirty="0">
                          <a:latin typeface="Arial"/>
                        </a:rPr>
                        <a:t>&gt;'word_1’,’word_2’,….., '&lt;</a:t>
                      </a:r>
                      <a:r>
                        <a:rPr lang="en-US" sz="1100" b="0" strike="noStrike" spc="-1" dirty="0" err="1">
                          <a:latin typeface="Arial"/>
                        </a:rPr>
                        <a:t>eos</a:t>
                      </a:r>
                      <a:r>
                        <a:rPr lang="en-US" sz="1100" b="0" strike="noStrike" spc="-1" dirty="0">
                          <a:latin typeface="Arial"/>
                        </a:rPr>
                        <a:t>&gt;'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latin typeface="Times New Roman"/>
                        </a:rPr>
                        <a:t>‘&lt;sos&gt;'word_1’,’word_2’,….., '&lt;eos&gt;'</a:t>
                      </a:r>
                      <a:endParaRPr lang="en-US" sz="11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3" name="CustomShape 2"/>
          <p:cNvSpPr/>
          <p:nvPr/>
        </p:nvSpPr>
        <p:spPr>
          <a:xfrm>
            <a:off x="3909600" y="4773960"/>
            <a:ext cx="1002240" cy="36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Table 1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312120" y="-2410"/>
            <a:ext cx="8517960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Transformer (Encoder Only)  Translation Results (default settings) </a:t>
            </a:r>
            <a:endParaRPr lang="en-US" sz="2000" b="1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328773" y="349100"/>
            <a:ext cx="7314387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Put translation results for your model (1</a:t>
            </a:r>
            <a:r>
              <a:rPr lang="en-US" sz="1200" b="0" strike="noStrike" spc="-1" baseline="101000" dirty="0">
                <a:solidFill>
                  <a:srgbClr val="595959"/>
                </a:solidFill>
                <a:latin typeface="Arial"/>
                <a:ea typeface="Arial"/>
              </a:rPr>
              <a:t>st</a:t>
            </a: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9 sentences) here. You may remove duplicate &lt;pad&gt; and &lt;</a:t>
            </a:r>
            <a:r>
              <a:rPr lang="en-US" sz="12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eos</a:t>
            </a: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&gt; tokens for each sentence.</a:t>
            </a:r>
            <a:endParaRPr lang="en-US" sz="12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Table 1"/>
          <p:cNvGraphicFramePr/>
          <p:nvPr>
            <p:extLst>
              <p:ext uri="{D42A27DB-BD31-4B8C-83A1-F6EECF244321}">
                <p14:modId xmlns:p14="http://schemas.microsoft.com/office/powerpoint/2010/main" val="3236800253"/>
              </p:ext>
            </p:extLst>
          </p:nvPr>
        </p:nvGraphicFramePr>
        <p:xfrm>
          <a:off x="0" y="752327"/>
          <a:ext cx="9144000" cy="4054920"/>
        </p:xfrm>
        <a:graphic>
          <a:graphicData uri="http://schemas.openxmlformats.org/drawingml/2006/table">
            <a:tbl>
              <a:tblPr/>
              <a:tblGrid>
                <a:gridCol w="457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latin typeface="+mn-lt"/>
                        </a:rPr>
                        <a:t>True Translation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latin typeface="+mn-lt"/>
                        </a:rPr>
                        <a:t>Predicted Translation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latin typeface="Arial"/>
                        </a:rPr>
                        <a:t>‘&lt;</a:t>
                      </a:r>
                      <a:r>
                        <a:rPr lang="en-US" sz="1100" b="0" strike="noStrike" spc="-1" dirty="0" err="1">
                          <a:latin typeface="Arial"/>
                        </a:rPr>
                        <a:t>sos</a:t>
                      </a:r>
                      <a:r>
                        <a:rPr lang="en-US" sz="1100" b="0" strike="noStrike" spc="-1" dirty="0">
                          <a:latin typeface="Arial"/>
                        </a:rPr>
                        <a:t>&gt;'word_1’,’word_2’,….., '&lt;</a:t>
                      </a:r>
                      <a:r>
                        <a:rPr lang="en-US" sz="1100" b="0" strike="noStrike" spc="-1" dirty="0" err="1">
                          <a:latin typeface="Arial"/>
                        </a:rPr>
                        <a:t>eos</a:t>
                      </a:r>
                      <a:r>
                        <a:rPr lang="en-US" sz="1100" b="0" strike="noStrike" spc="-1" dirty="0">
                          <a:latin typeface="Arial"/>
                        </a:rPr>
                        <a:t>&gt;'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latin typeface="Times New Roman"/>
                        </a:rPr>
                        <a:t>‘&lt;sos&gt;'word_1’,’word_2’,….., '&lt;eos&gt;'</a:t>
                      </a:r>
                      <a:endParaRPr lang="en-US" sz="11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3" name="CustomShape 2"/>
          <p:cNvSpPr/>
          <p:nvPr/>
        </p:nvSpPr>
        <p:spPr>
          <a:xfrm>
            <a:off x="3909600" y="4773960"/>
            <a:ext cx="1002240" cy="36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Table 2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312120" y="7864"/>
            <a:ext cx="8517960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Full Transformer Translation Results (best model) </a:t>
            </a:r>
            <a:endParaRPr lang="en-US" sz="2000" b="1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328773" y="331214"/>
            <a:ext cx="8034391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Put translation results for your best model (1</a:t>
            </a:r>
            <a:r>
              <a:rPr lang="en-US" sz="1200" b="0" strike="noStrike" spc="-1" baseline="101000" dirty="0">
                <a:solidFill>
                  <a:srgbClr val="595959"/>
                </a:solidFill>
                <a:latin typeface="Arial"/>
                <a:ea typeface="Arial"/>
              </a:rPr>
              <a:t>st</a:t>
            </a: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9 sentences) here. You may remove duplicate &lt;pad&gt; and &lt;</a:t>
            </a:r>
            <a:r>
              <a:rPr lang="en-US" sz="12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eos</a:t>
            </a: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&gt; tokens for each sentence.</a:t>
            </a:r>
            <a:endParaRPr lang="en-US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174515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Table 1"/>
          <p:cNvGraphicFramePr/>
          <p:nvPr>
            <p:extLst>
              <p:ext uri="{D42A27DB-BD31-4B8C-83A1-F6EECF244321}">
                <p14:modId xmlns:p14="http://schemas.microsoft.com/office/powerpoint/2010/main" val="2809685046"/>
              </p:ext>
            </p:extLst>
          </p:nvPr>
        </p:nvGraphicFramePr>
        <p:xfrm>
          <a:off x="0" y="742068"/>
          <a:ext cx="9144000" cy="4054920"/>
        </p:xfrm>
        <a:graphic>
          <a:graphicData uri="http://schemas.openxmlformats.org/drawingml/2006/table">
            <a:tbl>
              <a:tblPr/>
              <a:tblGrid>
                <a:gridCol w="457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latin typeface="+mn-lt"/>
                        </a:rPr>
                        <a:t>True Translation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latin typeface="+mn-lt"/>
                        </a:rPr>
                        <a:t>Predicted Translation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 dirty="0">
                          <a:latin typeface="Arial"/>
                        </a:rPr>
                        <a:t>‘&lt;</a:t>
                      </a:r>
                      <a:r>
                        <a:rPr lang="en-US" sz="1100" b="0" strike="noStrike" spc="-1" dirty="0" err="1">
                          <a:latin typeface="Arial"/>
                        </a:rPr>
                        <a:t>sos</a:t>
                      </a:r>
                      <a:r>
                        <a:rPr lang="en-US" sz="1100" b="0" strike="noStrike" spc="-1" dirty="0">
                          <a:latin typeface="Arial"/>
                        </a:rPr>
                        <a:t>&gt;'word_1’,’word_2’,….., '&lt;</a:t>
                      </a:r>
                      <a:r>
                        <a:rPr lang="en-US" sz="1100" b="0" strike="noStrike" spc="-1" dirty="0" err="1">
                          <a:latin typeface="Arial"/>
                        </a:rPr>
                        <a:t>eos</a:t>
                      </a:r>
                      <a:r>
                        <a:rPr lang="en-US" sz="1100" b="0" strike="noStrike" spc="-1" dirty="0">
                          <a:latin typeface="Arial"/>
                        </a:rPr>
                        <a:t>&gt;'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latin typeface="Arial"/>
                        </a:rPr>
                        <a:t>‘&lt;sos&gt;'word_1’,’word_2’,….., '&lt;eos&gt;'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76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7" name="CustomShape 2"/>
          <p:cNvSpPr/>
          <p:nvPr/>
        </p:nvSpPr>
        <p:spPr>
          <a:xfrm>
            <a:off x="3909600" y="4768618"/>
            <a:ext cx="1002240" cy="36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Table 3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312120" y="7864"/>
            <a:ext cx="8517960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70C0"/>
                </a:solidFill>
                <a:latin typeface="Arial"/>
                <a:ea typeface="Arial"/>
              </a:rPr>
              <a:t>Seq2Seq (Best model)</a:t>
            </a: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 Translation Results </a:t>
            </a:r>
            <a:endParaRPr lang="en-US" sz="2000" b="1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2" name="CustomShape 4">
            <a:extLst>
              <a:ext uri="{FF2B5EF4-FFF2-40B4-BE49-F238E27FC236}">
                <a16:creationId xmlns:a16="http://schemas.microsoft.com/office/drawing/2014/main" id="{759F2CB8-07B0-9B1E-0CD2-20C2B8F6F980}"/>
              </a:ext>
            </a:extLst>
          </p:cNvPr>
          <p:cNvSpPr/>
          <p:nvPr/>
        </p:nvSpPr>
        <p:spPr>
          <a:xfrm>
            <a:off x="328773" y="331214"/>
            <a:ext cx="8034391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Put translation results for your best model (1</a:t>
            </a:r>
            <a:r>
              <a:rPr lang="en-US" sz="1200" b="0" strike="noStrike" spc="-1" baseline="101000" dirty="0">
                <a:solidFill>
                  <a:srgbClr val="595959"/>
                </a:solidFill>
                <a:latin typeface="Arial"/>
                <a:ea typeface="Arial"/>
              </a:rPr>
              <a:t>st</a:t>
            </a: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9 sentences) here. You may remove duplicate &lt;pad&gt; and &lt;</a:t>
            </a:r>
            <a:r>
              <a:rPr lang="en-US" sz="1200" b="0" strike="noStrike" spc="-1" dirty="0" err="1">
                <a:solidFill>
                  <a:srgbClr val="595959"/>
                </a:solidFill>
                <a:latin typeface="Arial"/>
                <a:ea typeface="Arial"/>
              </a:rPr>
              <a:t>eos</a:t>
            </a: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&gt; tokens for each sentence.</a:t>
            </a:r>
            <a:endParaRPr lang="en-US" sz="12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1" name="CustomShape 2"/>
          <p:cNvSpPr/>
          <p:nvPr/>
        </p:nvSpPr>
        <p:spPr>
          <a:xfrm>
            <a:off x="312120" y="797736"/>
            <a:ext cx="8517960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Compare your </a:t>
            </a:r>
            <a:r>
              <a:rPr lang="en-US" sz="1200" spc="-1" dirty="0">
                <a:solidFill>
                  <a:srgbClr val="595959"/>
                </a:solidFill>
                <a:latin typeface="Arial"/>
                <a:ea typeface="Arial"/>
              </a:rPr>
              <a:t>results for default settings for Encoder Only Transformer vs best model for Full transformer both quantitatively and qualitatively. Explain why you see differences. 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142" name="CustomShape 3"/>
          <p:cNvSpPr/>
          <p:nvPr/>
        </p:nvSpPr>
        <p:spPr>
          <a:xfrm>
            <a:off x="312120" y="48960"/>
            <a:ext cx="8517960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Compare Transformer (Encoder Only) to Transformer (</a:t>
            </a:r>
            <a:r>
              <a:rPr lang="en-US" sz="2000" b="1" spc="-1" dirty="0">
                <a:solidFill>
                  <a:srgbClr val="0070C0"/>
                </a:solidFill>
                <a:latin typeface="Arial"/>
                <a:ea typeface="Arial"/>
              </a:rPr>
              <a:t>Full transformer</a:t>
            </a: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) </a:t>
            </a:r>
            <a:endParaRPr lang="en-US" sz="2000" b="1" strike="noStrike" spc="-1" dirty="0">
              <a:solidFill>
                <a:srgbClr val="0070C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1" name="CustomShape 2"/>
          <p:cNvSpPr/>
          <p:nvPr/>
        </p:nvSpPr>
        <p:spPr>
          <a:xfrm>
            <a:off x="312119" y="551160"/>
            <a:ext cx="8517959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Compare your </a:t>
            </a:r>
            <a:r>
              <a:rPr lang="en-US" sz="1200" spc="-1" dirty="0">
                <a:solidFill>
                  <a:srgbClr val="595959"/>
                </a:solidFill>
                <a:latin typeface="Arial"/>
                <a:ea typeface="Arial"/>
              </a:rPr>
              <a:t>Seq2Seq best model</a:t>
            </a: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results to your Transformer </a:t>
            </a:r>
            <a:r>
              <a:rPr lang="en-US" sz="1200" spc="-1" dirty="0">
                <a:solidFill>
                  <a:srgbClr val="595959"/>
                </a:solidFill>
                <a:latin typeface="Arial"/>
                <a:ea typeface="Arial"/>
              </a:rPr>
              <a:t>b</a:t>
            </a:r>
            <a:r>
              <a:rPr lang="en-US" sz="12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est model results both quantitatively and qualitatively and explain the differences.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142" name="CustomShape 3"/>
          <p:cNvSpPr/>
          <p:nvPr/>
        </p:nvSpPr>
        <p:spPr>
          <a:xfrm>
            <a:off x="312120" y="48960"/>
            <a:ext cx="8517960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Compare </a:t>
            </a:r>
            <a:r>
              <a:rPr lang="en-US" sz="2000" b="1" spc="-1" dirty="0">
                <a:solidFill>
                  <a:srgbClr val="0070C0"/>
                </a:solidFill>
                <a:latin typeface="Arial"/>
                <a:ea typeface="Arial"/>
              </a:rPr>
              <a:t>Seq2Seq</a:t>
            </a: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 to Transformer (Best models) </a:t>
            </a:r>
            <a:endParaRPr lang="en-US" sz="2000" b="1" strike="noStrike" spc="-1" dirty="0">
              <a:solidFill>
                <a:srgbClr val="0070C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138322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5" name="CustomShape 3"/>
          <p:cNvSpPr/>
          <p:nvPr/>
        </p:nvSpPr>
        <p:spPr>
          <a:xfrm>
            <a:off x="312120" y="48960"/>
            <a:ext cx="8517960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70C0"/>
                </a:solidFill>
                <a:latin typeface="Arial"/>
                <a:ea typeface="Arial"/>
              </a:rPr>
              <a:t>Theory question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US" sz="2000" b="1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70FA9A-3A01-E58A-B3D0-E8FB82D8DA2E}"/>
              </a:ext>
            </a:extLst>
          </p:cNvPr>
          <p:cNvSpPr txBox="1"/>
          <p:nvPr/>
        </p:nvSpPr>
        <p:spPr>
          <a:xfrm flipH="1">
            <a:off x="311760" y="504622"/>
            <a:ext cx="5179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Add additional slides if necessary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311760" y="1152360"/>
            <a:ext cx="8518680" cy="341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4" name="CustomShape 2"/>
          <p:cNvSpPr/>
          <p:nvPr/>
        </p:nvSpPr>
        <p:spPr>
          <a:xfrm>
            <a:off x="312120" y="571039"/>
            <a:ext cx="7277400" cy="60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n-US" sz="1800" b="0" strike="noStrike" spc="-1" dirty="0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312120" y="18137"/>
            <a:ext cx="8517960" cy="57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70C0"/>
                </a:solidFill>
                <a:latin typeface="Arial"/>
                <a:ea typeface="Arial"/>
              </a:rPr>
              <a:t>Paper discussion</a:t>
            </a:r>
            <a:endParaRPr lang="en-US" sz="2000" b="1" strike="noStrike" spc="-1" dirty="0">
              <a:solidFill>
                <a:srgbClr val="0070C0"/>
              </a:solidFill>
              <a:latin typeface="Arial"/>
              <a:ea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156AE-6786-E4FE-6B89-B61126D0A0B8}"/>
              </a:ext>
            </a:extLst>
          </p:cNvPr>
          <p:cNvSpPr txBox="1"/>
          <p:nvPr/>
        </p:nvSpPr>
        <p:spPr>
          <a:xfrm>
            <a:off x="311759" y="512635"/>
            <a:ext cx="8517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spc="-1" dirty="0">
                <a:solidFill>
                  <a:srgbClr val="000000"/>
                </a:solidFill>
                <a:latin typeface="Arial"/>
                <a:ea typeface="Arial"/>
              </a:rPr>
              <a:t>Name the paper you chose and answer the questions related to it. Add additional slides as necessary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US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189130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733</TotalTime>
  <Words>1210</Words>
  <Application>Microsoft Macintosh PowerPoint</Application>
  <PresentationFormat>On-screen Show (16:9)</PresentationFormat>
  <Paragraphs>163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Seq2Seq Results – Default configuration Values are for last epoch</vt:lpstr>
      <vt:lpstr>PowerPoint Presentation</vt:lpstr>
      <vt:lpstr>PowerPoint Presentation</vt:lpstr>
      <vt:lpstr>Seq2Seq Results – Best model Values are for last epoch</vt:lpstr>
      <vt:lpstr>Seq2Seq Best model Learning Curves (Perplexity)</vt:lpstr>
      <vt:lpstr>PowerPoint Presentation</vt:lpstr>
      <vt:lpstr>Transformer Results Values are for last epoch</vt:lpstr>
      <vt:lpstr>Full Transformer Best model Learning Curves (Perplexity)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4</dc:title>
  <dc:subject/>
  <dc:creator/>
  <dc:description/>
  <cp:lastModifiedBy>WEN YU</cp:lastModifiedBy>
  <cp:revision>44</cp:revision>
  <dcterms:modified xsi:type="dcterms:W3CDTF">2026-03-18T00:19:53Z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3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</vt:i4>
  </property>
</Properties>
</file>